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B28B9-390D-92C4-7227-FD74768398BB}" v="37" dt="2026-06-22T19:39:18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5CE2D36A-E638-419B-AA00-AEFAAE07C6FE}"/>
              </a:ext>
            </a:extLst>
          </p:cNvPr>
          <p:cNvSpPr>
            <a:spLocks noGrp="1"/>
          </p:cNvSpPr>
          <p:nvPr/>
        </p:nvSpPr>
        <p:spPr>
          <a:xfrm>
            <a:off x="1238250" y="1600200"/>
            <a:ext cx="9715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0">
                <a:solidFill>
                  <a:srgbClr val="111827"/>
                </a:solidFill>
              </a:defRPr>
            </a:pPr>
            <a:r>
              <a:rPr sz="4050" b="0">
                <a:solidFill>
                  <a:srgbClr val="111827"/>
                </a:solidFill>
              </a:rPr>
              <a:t>Predicting conflict clusters in Africa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3A528D12-81FD-4D9F-8E18-24CF7887EAA3}"/>
              </a:ext>
            </a:extLst>
          </p:cNvPr>
          <p:cNvSpPr>
            <a:spLocks noGrp="1"/>
          </p:cNvSpPr>
          <p:nvPr/>
        </p:nvSpPr>
        <p:spPr>
          <a:xfrm>
            <a:off x="2762250" y="3276600"/>
            <a:ext cx="6667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F47E5D9-EA5F-4105-BAD5-BC1BD2E8B193}"/>
              </a:ext>
            </a:extLst>
          </p:cNvPr>
          <p:cNvSpPr>
            <a:spLocks noGrp="1"/>
          </p:cNvSpPr>
          <p:nvPr/>
        </p:nvSpPr>
        <p:spPr>
          <a:xfrm>
            <a:off x="1809750" y="3714750"/>
            <a:ext cx="857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875">
                <a:solidFill>
                  <a:srgbClr val="374151"/>
                </a:solidFill>
              </a:defRPr>
            </a:pPr>
            <a:r>
              <a:rPr sz="1875">
                <a:solidFill>
                  <a:srgbClr val="374151"/>
                </a:solidFill>
              </a:rPr>
              <a:t>A spatiotemporal ACLED pipeline idea</a:t>
            </a:r>
          </a:p>
          <a:p>
            <a:pPr algn="ctr">
              <a:defRPr sz="1875">
                <a:solidFill>
                  <a:srgbClr val="374151"/>
                </a:solidFill>
              </a:defRPr>
            </a:pPr>
            <a:r>
              <a:rPr lang="sv-SE" sz="1850">
                <a:solidFill>
                  <a:srgbClr val="374151"/>
                </a:solidFill>
              </a:rPr>
              <a:t>Group 5</a:t>
            </a:r>
            <a:endParaRPr/>
          </a:p>
          <a:p>
            <a:pPr algn="ctr">
              <a:defRPr sz="1875">
                <a:solidFill>
                  <a:srgbClr val="374151"/>
                </a:solidFill>
              </a:defRPr>
            </a:pPr>
            <a:r>
              <a:rPr sz="1875">
                <a:solidFill>
                  <a:srgbClr val="374151"/>
                </a:solidFill>
              </a:rPr>
              <a:t>SICSS June 2026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0D799D9E-6240-478E-8ED1-BC0762555B98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185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E7553550-A583-4A38-A53E-74718CF6A4F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Agenda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60976B34-CBED-42A9-A323-948624B879CA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7851C346-D189-492D-ACB0-931D068A1C5C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1. Conflict clustering as a spatial question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2. What ACLED data contains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3. Turning events into a grid-cell monthly panel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4. Hypotheses: local persistence and spatial diffusion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5. Modeling and validation strategy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6. Reproducible pipeline and next steps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AF6F268-4992-4B6D-B14D-7939628DAD8A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534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FFFD7AA4-1FA3-4CDF-9208-644E0A0C5CCB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0">
                <a:solidFill>
                  <a:srgbClr val="111827"/>
                </a:solidFill>
              </a:defRPr>
            </a:pPr>
            <a:r>
              <a:rPr sz="2850" b="0">
                <a:solidFill>
                  <a:srgbClr val="111827"/>
                </a:solidFill>
              </a:rPr>
              <a:t>Core idea: conflict risk moves through space and time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B60368C6-61B6-4A2D-AE99-886C6F7DE7B9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6FD44BDF-D28F-4623-8240-AF106ADF56D8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Instead of predicting "conflict in Africa" as one continent-wide number, the project treats conflict as a local and time-varying process.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Africa is divided into geographic grid cells, observed month by month.</a:t>
            </a:r>
            <a:endParaRPr sz="2000"/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Question is, whether recent conflict in and around a cell helps predict conflict in that cell in the next month?</a:t>
            </a:r>
            <a:endParaRPr sz="2000"/>
          </a:p>
          <a:p>
            <a:pPr>
              <a:defRPr sz="2025">
                <a:solidFill>
                  <a:srgbClr val="1F2937"/>
                </a:solidFill>
              </a:defRPr>
            </a:pPr>
            <a:endParaRPr sz="2000" dirty="0">
              <a:solidFill>
                <a:srgbClr val="1F2937"/>
              </a:solidFill>
            </a:endParaRP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95D57893-BDF5-4EE2-9065-F1D205CD9BA1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2456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264E8D7C-1F6A-47D3-9343-F05F48563C10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ACLED data planned to be used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B8F034DD-0AAA-4DFE-8341-B0BC75A1147F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AD018685-B2C4-46C2-9E2E-2DD53E67CC08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4095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Source: ACLED event data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Period: </a:t>
            </a:r>
            <a:r>
              <a:rPr lang="sv-SE" sz="2000">
                <a:solidFill>
                  <a:srgbClr val="1F2937"/>
                </a:solidFill>
              </a:rPr>
              <a:t>Jan 2000</a:t>
            </a:r>
            <a:r>
              <a:rPr sz="2000">
                <a:solidFill>
                  <a:srgbClr val="1F2937"/>
                </a:solidFill>
              </a:rPr>
              <a:t> to </a:t>
            </a:r>
            <a:r>
              <a:rPr lang="sv-SE" sz="2000">
                <a:solidFill>
                  <a:srgbClr val="1F2937"/>
                </a:solidFill>
              </a:rPr>
              <a:t>Dec</a:t>
            </a:r>
            <a:r>
              <a:rPr sz="2000">
                <a:solidFill>
                  <a:srgbClr val="1F2937"/>
                </a:solidFill>
              </a:rPr>
              <a:t> 2010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Spatial scope: African countries in the file</a:t>
            </a:r>
            <a:endParaRPr sz="2000"/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Events: 41,299 reported events</a:t>
            </a:r>
            <a:endParaRPr sz="2000"/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Countries: 48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Core fields: date, coordinates, event type, actors, fatalities</a:t>
            </a:r>
            <a:endParaRPr sz="2000"/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Use: input data for grid-cell monthly prediction</a:t>
            </a:r>
            <a:endParaRPr sz="2000"/>
          </a:p>
        </p:txBody>
      </p:sp>
      <p:pic>
        <p:nvPicPr>
          <p:cNvPr id="9" name="Bildobjekt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0685" y="2190750"/>
            <a:ext cx="5897880" cy="245745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37112661-7851-427B-88EF-A7607B15EA29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018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02A20B7B-89A2-49AA-ABDF-FEBADA45AB34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What one ACLED row tells us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6DCF046C-4AE7-41C3-A33C-EE3224076A01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FBD65CD4-7420-4392-A192-4D2014338118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- Each row is a reported conflict event.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endParaRPr lang="sv-SE" dirty="0">
              <a:solidFill>
                <a:srgbClr val="1F2937"/>
              </a:solidFill>
            </a:endParaRPr>
          </a:p>
          <a:p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- The row includes a date, latitude and longitude, country and administrative location, event and sub-event type, involved actors, fatalities, and source notes.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endParaRPr lang="sv-SE" dirty="0">
              <a:solidFill>
                <a:srgbClr val="1F2937"/>
              </a:solidFill>
            </a:endParaRPr>
          </a:p>
          <a:p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- The raw row is not yet the unit of prediction. It is an observation that can be aggregated into a consistent space-time panel.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endParaRPr lang="sv-SE" dirty="0">
              <a:solidFill>
                <a:srgbClr val="1F2937"/>
              </a:solidFill>
            </a:endParaRPr>
          </a:p>
          <a:p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- This matters because the model needs comparable units: the same places, observed repeatedly through time, including months with no reported conflict.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598A18D4-7144-4B0B-A036-1B0ED42FC859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2151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34CAF61-7919-42B6-B29B-DD80995B7542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Research question and hypotheses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BB2EF68-9ECE-46B0-8AB0-EFE27EEE29E3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DDF04954-81A0-4047-AC51-A267F76F5D6D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Research question: How conflict clusters spread over time and space?</a:t>
            </a:r>
          </a:p>
          <a:p>
            <a:endParaRPr sz="2025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H1 Spatial diffusion: conflict in nearby cells raises risk in the focal cell, even after accounting for the focal cell's own history.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H2 Scale robustness: the same broad pattern should be visible when the grid is made smaller (50 x 50km) or larger (200 x 200km).</a:t>
            </a:r>
            <a:endParaRPr sz="200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03B79DEE-8A58-4C42-9972-30F46C0CF809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8038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04B6C978-3B5C-47A0-80BB-3214772499A7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The ACLED Pipeline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1F8C43A-3B3E-43E9-9585-CF92EBDC4DA5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4FDCC18-AD63-4223-812B-0A9AD6D92E65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1. Start with point events: latitude, longitude, date, and event attributes.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2. Assign each event to an approximate 100 x 100 km grid cell.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3. Count events and fatalities by cell and month.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4. Add explicit rows for cell-months with zero reported events.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5. Shift the outcome forward: use earlier information to predict conflict next month.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B6A5848-3792-42FC-87A3-59506E5156A9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8439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621676BE-B058-4154-9AFF-63E43EA1070D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The 100 km grid-cell monthly 2000-2010 panel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5A7FA6AC-4430-446E-9847-34D4DD29BA56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9FBA6DC-6302-47A0-8041-0D3794CA4E52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Grid: 100 x 100 km cells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Rows: 187,592 cell-months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Cells: 1,432 geographic cells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Months: 131 (10x12+11=131 : Jan 2000 - dec 2010)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Outcome: any conflict in the next month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Purpose: a structured map-time table for prediction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618CB96-9A2E-4F03-8C5C-61FCF7672539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9403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323F4CDA-1DBE-4A2A-AA11-9A12EAB6D2FA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What the model is allowed to know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EC5C56D2-2F5F-4C0E-AA59-75164212FAE1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EF8A576D-A1A6-4769-81B8-67B8D20EC9DE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Only information available before the prediction month is used.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Local history: whether the same cell had conflict in the last 1, 3, 6, or 12 months.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Intensity history: recent event counts and fatality counts, summarized over rolling windows.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Neighbor history: recent conflict in nearby grid cells, used to test spatial diffusion.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Context controls: month and country patterns, plus event-type histories where useful.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CA7FAB9B-A3A4-4150-B220-64C4FC0CA78E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41981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76320394-519A-4D60-BF88-14FD4D2EDF71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Modeling strategy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EF862EE9-7890-4EB5-AD42-332D4423FC4B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85B86C5B-FA3C-4510-BDEA-272B2E4D0A59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The models compare increasingly informative explanations of next-month conflict risk.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Baseline: broad place and time patterns.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rPr sz="1800" dirty="0">
                <a:solidFill>
                  <a:srgbClr val="1F2937"/>
                </a:solidFill>
              </a:rPr>
              <a:t>Local-history model: adds what happened in the same cell recently.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rPr sz="1800" dirty="0">
                <a:solidFill>
                  <a:srgbClr val="1F2937"/>
                </a:solidFill>
              </a:rPr>
              <a:t>Neighbor model: adds what happened around the cell recently.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Extended model: </a:t>
            </a:r>
            <a:r>
              <a:rPr lang="sv-SE">
                <a:solidFill>
                  <a:srgbClr val="1F2937"/>
                </a:solidFill>
              </a:rPr>
              <a:t>adds</a:t>
            </a:r>
            <a:r>
              <a:rPr sz="1800">
                <a:solidFill>
                  <a:srgbClr val="1F2937"/>
                </a:solidFill>
              </a:rPr>
              <a:t> richer event-type and intensity information.</a:t>
            </a:r>
            <a:endParaRPr lang="sv-SE"/>
          </a:p>
          <a:p>
            <a:pPr>
              <a:defRPr sz="1800">
                <a:solidFill>
                  <a:srgbClr val="1F2937"/>
                </a:solidFill>
              </a:defRPr>
            </a:pPr>
            <a:r>
              <a:rPr sz="1800">
                <a:solidFill>
                  <a:srgbClr val="1F2937"/>
                </a:solidFill>
              </a:rPr>
              <a:t>Logistic regression keeps the design interpretable; random forests test whether flexible patterns add predictive value.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ED4D62B-CDDA-4862-B1A0-D4D4113D3964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0499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7D3F1488-D774-4B7B-9F38-8E16ECA6431D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028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0">
                <a:solidFill>
                  <a:srgbClr val="111827"/>
                </a:solidFill>
              </a:defRPr>
            </a:pPr>
            <a:r>
              <a:rPr sz="3150" b="0">
                <a:solidFill>
                  <a:srgbClr val="111827"/>
                </a:solidFill>
              </a:rPr>
              <a:t>Planned validation strategy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36BAF7C-033D-4870-9556-1D41B6A0D2D8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93345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575DAFC-EFDE-4A6B-9011-8B9EFEFA243C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0334625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Time should be split chronologically, because the real task is forecasting future months.</a:t>
            </a:r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build and explain the model using the 2000-2010 ACLED data.</a:t>
            </a:r>
            <a:r>
              <a:rPr lang="sv-SE" sz="2000">
                <a:solidFill>
                  <a:srgbClr val="1F2937"/>
                </a:solidFill>
              </a:rPr>
              <a:t> Add</a:t>
            </a:r>
            <a:r>
              <a:rPr sz="2000">
                <a:solidFill>
                  <a:srgbClr val="1F2937"/>
                </a:solidFill>
              </a:rPr>
              <a:t> 2011-2020 as a later out-of-sample test period.</a:t>
            </a:r>
            <a:endParaRPr lang="sv-SE" sz="2000"/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The main grid is 100 km x 100 km, with 50 km and 200 km robustness checks.</a:t>
            </a:r>
            <a:endParaRPr sz="2000"/>
          </a:p>
          <a:p>
            <a:pPr>
              <a:defRPr sz="2025">
                <a:solidFill>
                  <a:srgbClr val="1F2937"/>
                </a:solidFill>
              </a:defRPr>
            </a:pPr>
            <a:endParaRPr lang="sv-SE" sz="2000" dirty="0">
              <a:solidFill>
                <a:srgbClr val="1F2937"/>
              </a:solidFill>
            </a:endParaRPr>
          </a:p>
          <a:p>
            <a:pPr>
              <a:defRPr sz="2025">
                <a:solidFill>
                  <a:srgbClr val="1F2937"/>
                </a:solidFill>
              </a:defRPr>
            </a:pPr>
            <a:r>
              <a:rPr sz="2000">
                <a:solidFill>
                  <a:srgbClr val="1F2937"/>
                </a:solidFill>
              </a:rPr>
              <a:t>Evaluation should ask whether high-risk cells are useful and calibrated, not only whether a single threshold looks good.</a:t>
            </a:r>
            <a:endParaRPr sz="200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4955F34-6856-4EA3-B2EB-3B2ECAF6BE8C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CA3AF"/>
                </a:solidFill>
              </a:defRPr>
            </a:pPr>
            <a:r>
              <a:rPr sz="1050">
                <a:solidFill>
                  <a:srgbClr val="9CA3A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41918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Bredbild</PresentationFormat>
  <Slides>11</Slides>
  <Notes>11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2" baseType="lpstr">
      <vt:lpstr>ChatGPT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43</cp:revision>
  <dcterms:created xsi:type="dcterms:W3CDTF">2026-06-22T19:24:53Z</dcterms:created>
  <dcterms:modified xsi:type="dcterms:W3CDTF">2026-06-22T19:41:42Z</dcterms:modified>
</cp:coreProperties>
</file>