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4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5.xml" ContentType="application/vnd.openxmlformats-officedocument.theme+xml"/>
  <Override PartName="/ppt/slideLayouts/slideLayout37.xml" ContentType="application/vnd.openxmlformats-officedocument.presentationml.slideLayout+xml"/>
  <Override PartName="/ppt/theme/theme6.xml" ContentType="application/vnd.openxmlformats-officedocument.theme+xml"/>
  <Override PartName="/ppt/slideLayouts/slideLayout38.xml" ContentType="application/vnd.openxmlformats-officedocument.presentationml.slideLayout+xml"/>
  <Override PartName="/ppt/theme/theme7.xml" ContentType="application/vnd.openxmlformats-officedocument.theme+xml"/>
  <Override PartName="/ppt/slideLayouts/slideLayout39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2"/>
    <p:sldMasterId id="2147483678" r:id="rId3"/>
    <p:sldMasterId id="2147483683" r:id="rId4"/>
    <p:sldMasterId id="2147483686" r:id="rId5"/>
    <p:sldMasterId id="2147483689" r:id="rId6"/>
    <p:sldMasterId id="2147483691" r:id="rId7"/>
    <p:sldMasterId id="2147483693" r:id="rId8"/>
  </p:sldMasterIdLst>
  <p:notesMasterIdLst>
    <p:notesMasterId r:id="rId20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pic>
        <p:nvPicPr>
          <p:cNvPr id="2" name="Bildobjekt 4"/>
          <p:cNvPicPr>
            <a:picLocks noChangeAspect="1"/>
          </p:cNvPicPr>
          <p:nvPr/>
        </p:nvPicPr>
        <p:blipFill>
          <a:blip r:embed="rId3"/>
          <a:srcRect t="29499" b="29358"/>
          <a:stretch/>
        </p:blipFill>
        <p:spPr>
          <a:xfrm>
            <a:off x="8627301" y="5773205"/>
            <a:ext cx="3515927" cy="84382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6C0DDFE-EF99-75B2-C385-884FCD416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</p:spPr>
        <p:txBody>
          <a:bodyPr anchor="b">
            <a:normAutofit/>
          </a:bodyPr>
          <a:lstStyle>
            <a:lvl1pPr algn="l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84963DC-C9E7-8520-C8F2-5D4A54072E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10"/>
            <a:ext cx="9144000" cy="1828801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latin typeface="+mj-lt"/>
                <a:ea typeface="+mj-lt"/>
                <a:cs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out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6C0DDFE-EF99-75B2-C385-884FCD416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</p:spPr>
        <p:txBody>
          <a:bodyPr anchor="b">
            <a:normAutofit/>
          </a:bodyPr>
          <a:lstStyle>
            <a:lvl1pPr algn="l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84963DC-C9E7-8520-C8F2-5D4A54072E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10"/>
            <a:ext cx="9144000" cy="1828801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latin typeface="+mj-lt"/>
                <a:ea typeface="+mj-lt"/>
                <a:cs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pic>
        <p:nvPicPr>
          <p:cNvPr id="2" name="Bildobjekt 3"/>
          <p:cNvPicPr>
            <a:picLocks noChangeAspect="1"/>
          </p:cNvPicPr>
          <p:nvPr/>
        </p:nvPicPr>
        <p:blipFill>
          <a:blip r:embed="rId3"/>
          <a:srcRect t="29499" b="29358"/>
          <a:stretch/>
        </p:blipFill>
        <p:spPr>
          <a:xfrm>
            <a:off x="8627301" y="5773205"/>
            <a:ext cx="3515927" cy="84382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4F475BF-A9F3-4048-2700-3B2F4FCD6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</p:spPr>
        <p:txBody>
          <a:bodyPr anchor="b">
            <a:normAutofit/>
          </a:bodyPr>
          <a:lstStyle>
            <a:lvl1pPr algn="ctr">
              <a:buNone/>
              <a:defRPr sz="2400"/>
            </a:lvl1pPr>
          </a:lstStyle>
          <a:p>
            <a:r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CAA865E-3A6B-5A70-25A4-118668A148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00"/>
            <a:ext cx="9144000" cy="1828800"/>
          </a:xfrm>
        </p:spPr>
        <p:txBody>
          <a:bodyPr>
            <a:noAutofit/>
          </a:bodyPr>
          <a:lstStyle>
            <a:lvl1pPr marL="0" indent="0" algn="ctr">
              <a:buNone/>
              <a:defRPr sz="6000">
                <a:latin typeface="+mj-lt"/>
                <a:ea typeface="+mj-lt"/>
                <a:cs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without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4F475BF-A9F3-4048-2700-3B2F4FCD6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</p:spPr>
        <p:txBody>
          <a:bodyPr anchor="b">
            <a:normAutofit/>
          </a:bodyPr>
          <a:lstStyle>
            <a:lvl1pPr algn="ctr">
              <a:buNone/>
              <a:defRPr sz="2400"/>
            </a:lvl1pPr>
          </a:lstStyle>
          <a:p>
            <a:r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CAA865E-3A6B-5A70-25A4-118668A148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00"/>
            <a:ext cx="9144000" cy="1828800"/>
          </a:xfrm>
        </p:spPr>
        <p:txBody>
          <a:bodyPr>
            <a:noAutofit/>
          </a:bodyPr>
          <a:lstStyle>
            <a:lvl1pPr marL="0" indent="0" algn="ctr">
              <a:buNone/>
              <a:defRPr sz="6000">
                <a:latin typeface="+mj-lt"/>
                <a:ea typeface="+mj-lt"/>
                <a:cs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6132240"/>
            <a:ext cx="1821947" cy="6732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9D274-9D58-4C59-BF24-08319E8A827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2200F05-7C42-444D-A0D8-253894224E88}" type="datetime1">
              <a:t>2026-06-22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FF1B3-BEF7-476C-9C24-6F6824C23A5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DCECA-8742-4DDD-8038-0C0682EA79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997412D-A184-8ACF-2096-E7D485169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519242"/>
            <a:ext cx="10515600" cy="1909758"/>
          </a:xfrm>
        </p:spPr>
        <p:txBody>
          <a:bodyPr anchor="b">
            <a:normAutofit/>
          </a:bodyPr>
          <a:lstStyle>
            <a:lvl1pPr>
              <a:buNone/>
              <a:defRPr sz="3600"/>
            </a:lvl1pPr>
          </a:lstStyle>
          <a:p>
            <a:r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AE4C71D-1FA8-A27F-B94F-F53F1C979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3502800"/>
            <a:ext cx="10515600" cy="2628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1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3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4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6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99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1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32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F96C9-5579-4CED-A338-A836AEE06E7E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292263" y="0"/>
            <a:ext cx="2520000" cy="360000"/>
          </a:xfrm>
        </p:spPr>
        <p:txBody>
          <a:bodyPr/>
          <a:lstStyle/>
          <a:p>
            <a:fld id="{C2E58C01-D356-4F4A-A4C8-16C5BA87BC39}" type="datetime1">
              <a:t>2026-06-22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A41CD-1A6A-456B-BCAE-4B73471B30D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AF9EE-7694-4BC1-BDBC-514D317EEE9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812263" y="0"/>
            <a:ext cx="432000" cy="360000"/>
          </a:xfrm>
        </p:spPr>
        <p:txBody>
          <a:bodyPr/>
          <a:lstStyle/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9" name="Rak 5">
            <a:extLst>
              <a:ext uri="{FF2B5EF4-FFF2-40B4-BE49-F238E27FC236}">
                <a16:creationId xmlns:a16="http://schemas.microsoft.com/office/drawing/2014/main" id="{F42D1F69-9523-4589-B105-BA3D1D423065}"/>
              </a:ext>
            </a:extLst>
          </p:cNvPr>
          <p:cNvSpPr>
            <a:spLocks noGrp="1"/>
          </p:cNvSpPr>
          <p:nvPr/>
        </p:nv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6132240"/>
            <a:ext cx="1821947" cy="6732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D7C0572-FE79-E8CF-B5FB-99BF2BED5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92D4395-98C3-8985-DAD6-69287FA36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4254337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CDECF-AB46-421A-B3EA-954167E551C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0C44391-E399-D04A-970E-1B294DA7E1AE}" type="datetime1">
              <a:t>2026-06-22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FB67D-8CC2-4E5B-BF93-6B7E5BF4B2A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LiU PowerPoint-mall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AF80C1-A5DA-4E08-8CAE-B47DD97A39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11" name="Rak 5">
            <a:extLst>
              <a:ext uri="{FF2B5EF4-FFF2-40B4-BE49-F238E27FC236}">
                <a16:creationId xmlns:a16="http://schemas.microsoft.com/office/drawing/2014/main" id="{DD7E21AD-6145-4B54-8791-5FB7F9964C04}"/>
              </a:ext>
            </a:extLst>
          </p:cNvPr>
          <p:cNvSpPr>
            <a:spLocks noGrp="1"/>
          </p:cNvSpPr>
          <p:nvPr/>
        </p:nv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pic>
        <p:nvPicPr>
          <p:cNvPr id="12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6132240"/>
            <a:ext cx="1821947" cy="6732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580969B-BB7F-BF5F-305E-C5E4FA9BA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FAEC93B-A239-D232-9F3F-E04D134A3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9"/>
            <a:ext cx="5181600" cy="4241481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D162F109-2911-EF62-EF8C-8AD44F75C54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6"/>
            <a:ext cx="5181600" cy="4254337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52B86A-85B7-4456-A609-BB084D0B26B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041F90C-385D-A748-A2FE-753BA8C86ECF}" type="datetime1">
              <a:t>2026-06-22</a:t>
            </a:fld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B0CCA9-80F4-4FE7-B4FD-9FB654545F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13" name="Rak 5">
            <a:extLst>
              <a:ext uri="{FF2B5EF4-FFF2-40B4-BE49-F238E27FC236}">
                <a16:creationId xmlns:a16="http://schemas.microsoft.com/office/drawing/2014/main" id="{5F9DA7CA-0DEE-4A32-B64E-E28ECCB5E164}"/>
              </a:ext>
            </a:extLst>
          </p:cNvPr>
          <p:cNvSpPr>
            <a:spLocks noGrp="1"/>
          </p:cNvSpPr>
          <p:nvPr/>
        </p:nv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pic>
        <p:nvPicPr>
          <p:cNvPr id="14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6132240"/>
            <a:ext cx="1821947" cy="6732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AC1FC548-26ED-7611-7FBA-4184F4A6B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B01C68F-1BB7-AD24-D54A-D48A808BF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+mj-lt"/>
                <a:ea typeface="+mj-lt"/>
                <a:cs typeface="+mj-lt"/>
              </a:defRPr>
            </a:lvl1pPr>
            <a:lvl2pPr marL="457167" indent="0">
              <a:buNone/>
              <a:defRPr sz="2000" b="1"/>
            </a:lvl2pPr>
            <a:lvl3pPr marL="914332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30" indent="0">
              <a:buNone/>
              <a:defRPr sz="1600" b="1"/>
            </a:lvl6pPr>
            <a:lvl7pPr marL="2742994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7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EDD8337C-0E88-07E2-171E-A0C2F4D5753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9" y="2505085"/>
            <a:ext cx="5157787" cy="3571673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3726D009-5E39-A848-6372-FD2DED175EC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3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+mj-lt"/>
                <a:ea typeface="+mj-lt"/>
                <a:cs typeface="+mj-lt"/>
              </a:defRPr>
            </a:lvl1pPr>
            <a:lvl2pPr marL="457167" indent="0">
              <a:buNone/>
              <a:defRPr sz="2000" b="1"/>
            </a:lvl2pPr>
            <a:lvl3pPr marL="914332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30" indent="0">
              <a:buNone/>
              <a:defRPr sz="1600" b="1"/>
            </a:lvl6pPr>
            <a:lvl7pPr marL="2742994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7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6DBBA711-0224-5844-316C-B2F9CE29AE82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3" y="2505085"/>
            <a:ext cx="5183188" cy="3568459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082EEB-76C9-46A2-8992-24100BBA5F9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05C6AD-E4B1-8441-AB11-F0949BE4F47F}" type="datetime1">
              <a:t>2026-06-22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1F3176-8332-460F-839F-8C36305CF83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LiU PowerPoint-mall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0BA3FD-78E6-4451-96E1-12B31AC3BA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9" name="Rak 5">
            <a:extLst>
              <a:ext uri="{FF2B5EF4-FFF2-40B4-BE49-F238E27FC236}">
                <a16:creationId xmlns:a16="http://schemas.microsoft.com/office/drawing/2014/main" id="{09F4B2A4-14DC-40D4-8436-E9CFCE9D519A}"/>
              </a:ext>
            </a:extLst>
          </p:cNvPr>
          <p:cNvSpPr>
            <a:spLocks noGrp="1"/>
          </p:cNvSpPr>
          <p:nvPr/>
        </p:nv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pic>
        <p:nvPicPr>
          <p:cNvPr id="10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6132240"/>
            <a:ext cx="1821947" cy="673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903A21B-3B8D-F4A4-99D4-DB980A771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96CBC0-C319-4952-8F5C-99292872E29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8546DD3-10AD-3843-8837-DAD5D1FB9627}" type="datetime1">
              <a:t>2026-06-22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66394A-EC6D-4B1F-8267-B06B1013644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LiU PowerPoint-mall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DF935-E895-4D21-A182-6E15EDC728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8" name="Rak 5">
            <a:extLst>
              <a:ext uri="{FF2B5EF4-FFF2-40B4-BE49-F238E27FC236}">
                <a16:creationId xmlns:a16="http://schemas.microsoft.com/office/drawing/2014/main" id="{A6092381-F7A7-4FD6-9135-F29D492746F3}"/>
              </a:ext>
            </a:extLst>
          </p:cNvPr>
          <p:cNvSpPr>
            <a:spLocks noGrp="1"/>
          </p:cNvSpPr>
          <p:nvPr/>
        </p:nv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pic>
        <p:nvPicPr>
          <p:cNvPr id="9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6132240"/>
            <a:ext cx="1821947" cy="673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AEBBB-5F59-4CE5-8F95-88A1C188539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C1E07CF-3F93-FE49-A8D3-ABDB1108DA96}" type="datetime1">
              <a:t>2026-06-22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D4F3F-4FD6-423B-8630-8675366330D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LiU PowerPoint-mall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6012F-A692-4BBB-B0E2-A40D6C3917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26" name="Rak 5">
            <a:extLst>
              <a:ext uri="{FF2B5EF4-FFF2-40B4-BE49-F238E27FC236}">
                <a16:creationId xmlns:a16="http://schemas.microsoft.com/office/drawing/2014/main" id="{2E56353F-7383-45AA-9B78-1E51CAD56A25}"/>
              </a:ext>
            </a:extLst>
          </p:cNvPr>
          <p:cNvSpPr>
            <a:spLocks noGrp="1"/>
          </p:cNvSpPr>
          <p:nvPr/>
        </p:nv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pic>
        <p:nvPicPr>
          <p:cNvPr id="27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6132240"/>
            <a:ext cx="1821947" cy="6732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AF627F5-B8FA-7392-F155-3ABDD010D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7E6854E-FDB5-BE64-1C2F-B104DC69D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509253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81132D2-EAC7-2184-7E66-0F2EF666EA2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2"/>
            <a:ext cx="3932237" cy="4022563"/>
          </a:xfrm>
        </p:spPr>
        <p:txBody>
          <a:bodyPr/>
          <a:lstStyle>
            <a:lvl1pPr marL="0" indent="0">
              <a:buNone/>
              <a:defRPr sz="1600"/>
            </a:lvl1pPr>
            <a:lvl2pPr marL="457167" indent="0">
              <a:buNone/>
              <a:defRPr sz="1400"/>
            </a:lvl2pPr>
            <a:lvl3pPr marL="914332" indent="0">
              <a:buNone/>
              <a:defRPr sz="1200"/>
            </a:lvl3pPr>
            <a:lvl4pPr marL="1371498" indent="0">
              <a:buNone/>
              <a:defRPr sz="1000"/>
            </a:lvl4pPr>
            <a:lvl5pPr marL="1828664" indent="0">
              <a:buNone/>
              <a:defRPr sz="1000"/>
            </a:lvl5pPr>
            <a:lvl6pPr marL="2285830" indent="0">
              <a:buNone/>
              <a:defRPr sz="1000"/>
            </a:lvl6pPr>
            <a:lvl7pPr marL="2742994" indent="0">
              <a:buNone/>
              <a:defRPr sz="1000"/>
            </a:lvl7pPr>
            <a:lvl8pPr marL="3200160" indent="0">
              <a:buNone/>
              <a:defRPr sz="1000"/>
            </a:lvl8pPr>
            <a:lvl9pPr marL="3657327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D6119C-D6E1-438D-B01E-CF6E63D023A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14DB0B-1212-EE43-A2E4-E9759D8662FA}" type="datetime1">
              <a:t>2026-06-22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2FECA-0FDF-4E93-B1B1-6CF623CF2A1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LiU PowerPoint-mall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55D90-D9E3-425D-B3DC-406845F9C0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8" name="Rak 5">
            <a:extLst>
              <a:ext uri="{FF2B5EF4-FFF2-40B4-BE49-F238E27FC236}">
                <a16:creationId xmlns:a16="http://schemas.microsoft.com/office/drawing/2014/main" id="{A59B172A-2B32-4FEB-AF43-41C6BAB05652}"/>
              </a:ext>
            </a:extLst>
          </p:cNvPr>
          <p:cNvSpPr>
            <a:spLocks noGrp="1"/>
          </p:cNvSpPr>
          <p:nvPr/>
        </p:nv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6132240"/>
            <a:ext cx="1821947" cy="673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4148781-01E4-BEAA-8834-2DE13A742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3CC195B-1009-38F9-5D93-4C33A44DBB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5092533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167" indent="0">
              <a:buNone/>
              <a:defRPr sz="2800"/>
            </a:lvl2pPr>
            <a:lvl3pPr marL="914332" indent="0">
              <a:buNone/>
              <a:defRPr sz="2400"/>
            </a:lvl3pPr>
            <a:lvl4pPr marL="1371498" indent="0">
              <a:buNone/>
              <a:defRPr sz="2000"/>
            </a:lvl4pPr>
            <a:lvl5pPr marL="1828664" indent="0">
              <a:buNone/>
              <a:defRPr sz="2000"/>
            </a:lvl5pPr>
            <a:lvl6pPr marL="2285830" indent="0">
              <a:buNone/>
              <a:defRPr sz="2000"/>
            </a:lvl6pPr>
            <a:lvl7pPr marL="2742994" indent="0">
              <a:buNone/>
              <a:defRPr sz="2000"/>
            </a:lvl7pPr>
            <a:lvl8pPr marL="3200160" indent="0">
              <a:buNone/>
              <a:defRPr sz="2000"/>
            </a:lvl8pPr>
            <a:lvl9pPr marL="3657327" indent="0">
              <a:buNone/>
              <a:defRPr sz="2000"/>
            </a:lvl9pPr>
          </a:lstStyle>
          <a:p>
            <a:r>
              <a:t>Click icon to add picture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E33A2CA-D2CD-E479-8A48-509CB2603C8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2"/>
            <a:ext cx="3932237" cy="4022563"/>
          </a:xfrm>
        </p:spPr>
        <p:txBody>
          <a:bodyPr/>
          <a:lstStyle>
            <a:lvl1pPr marL="0" indent="0">
              <a:buNone/>
              <a:defRPr sz="1600"/>
            </a:lvl1pPr>
            <a:lvl2pPr marL="457167" indent="0">
              <a:buNone/>
              <a:defRPr sz="1400"/>
            </a:lvl2pPr>
            <a:lvl3pPr marL="914332" indent="0">
              <a:buNone/>
              <a:defRPr sz="1200"/>
            </a:lvl3pPr>
            <a:lvl4pPr marL="1371498" indent="0">
              <a:buNone/>
              <a:defRPr sz="1000"/>
            </a:lvl4pPr>
            <a:lvl5pPr marL="1828664" indent="0">
              <a:buNone/>
              <a:defRPr sz="1000"/>
            </a:lvl5pPr>
            <a:lvl6pPr marL="2285830" indent="0">
              <a:buNone/>
              <a:defRPr sz="1000"/>
            </a:lvl6pPr>
            <a:lvl7pPr marL="2742994" indent="0">
              <a:buNone/>
              <a:defRPr sz="1000"/>
            </a:lvl7pPr>
            <a:lvl8pPr marL="3200160" indent="0">
              <a:buNone/>
              <a:defRPr sz="1000"/>
            </a:lvl8pPr>
            <a:lvl9pPr marL="3657327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985C7-46FC-4066-B9D3-B0D0DB8037A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0BE783F-E01A-3D4D-8D22-1A7C0A61178D}" type="datetime1">
              <a:t>2026-06-22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83B8B-54A4-4A15-BB63-FCDC3A44F50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9CEAC-1427-4BEA-8982-30CAE04DC3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A1A33F-C20C-1CDE-623B-7FC7EDF1E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8" name="Vertical Text Placeholder 2">
            <a:extLst>
              <a:ext uri="{FF2B5EF4-FFF2-40B4-BE49-F238E27FC236}">
                <a16:creationId xmlns:a16="http://schemas.microsoft.com/office/drawing/2014/main" id="{DE0BF2DB-0832-4566-69F6-92EB2A526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05174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4654A-FDE6-4601-9D75-FA956B136DD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 rot="5400000">
            <a:off x="11103000" y="5049000"/>
            <a:ext cx="1818000" cy="360000"/>
          </a:xfrm>
        </p:spPr>
        <p:txBody>
          <a:bodyPr/>
          <a:lstStyle/>
          <a:p>
            <a:fld id="{AD84D972-628C-144F-8C1B-117CDE23ADC4}" type="datetime1">
              <a:t>2026-06-22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8F030-2FCB-40E4-B64D-2629C80F11C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 rot="5400000">
            <a:off x="9852000" y="1980000"/>
            <a:ext cx="4320000" cy="360000"/>
          </a:xfrm>
        </p:spPr>
        <p:txBody>
          <a:bodyPr lIns="180000"/>
          <a:lstStyle/>
          <a:p>
            <a:r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C8C35-D10B-42B0-92F4-58D676FE104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 rot="5400000">
            <a:off x="11652000" y="6318000"/>
            <a:ext cx="720000" cy="360000"/>
          </a:xfrm>
        </p:spPr>
        <p:txBody>
          <a:bodyPr rIns="180000"/>
          <a:lstStyle/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7" name="Vertical Title 1">
            <a:extLst>
              <a:ext uri="{FF2B5EF4-FFF2-40B4-BE49-F238E27FC236}">
                <a16:creationId xmlns:a16="http://schemas.microsoft.com/office/drawing/2014/main" id="{8C5866D0-6FAE-8EEC-55D0-2C1688813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8" name="Vertical Text Placeholder 2">
            <a:extLst>
              <a:ext uri="{FF2B5EF4-FFF2-40B4-BE49-F238E27FC236}">
                <a16:creationId xmlns:a16="http://schemas.microsoft.com/office/drawing/2014/main" id="{0630C8C6-33E4-158A-A770-1398B1FFC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8" y="5610255"/>
            <a:ext cx="3234687" cy="1195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DC8CC-6DA1-44E1-AA32-45B9D76EB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</p:spPr>
        <p:txBody>
          <a:bodyPr anchor="b">
            <a:normAutofit/>
          </a:bodyPr>
          <a:lstStyle>
            <a:lvl1pPr algn="l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186BF-7340-4334-86FF-20FAAF566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10"/>
            <a:ext cx="9144000" cy="1828801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latin typeface="+mj-lt"/>
                <a:ea typeface="+mj-lt"/>
                <a:cs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pic>
        <p:nvPicPr>
          <p:cNvPr id="4" name="Bildobjekt 4"/>
          <p:cNvPicPr>
            <a:picLocks noChangeAspect="1"/>
          </p:cNvPicPr>
          <p:nvPr/>
        </p:nvPicPr>
        <p:blipFill>
          <a:blip r:embed="rId3"/>
          <a:srcRect l="329" t="27767" r="-329" b="30434"/>
          <a:stretch/>
        </p:blipFill>
        <p:spPr>
          <a:xfrm>
            <a:off x="8295206" y="5788359"/>
            <a:ext cx="3617046" cy="8819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without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8" y="5610255"/>
            <a:ext cx="3234687" cy="1195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DC8CC-6DA1-44E1-AA32-45B9D76EB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</p:spPr>
        <p:txBody>
          <a:bodyPr anchor="b">
            <a:normAutofit/>
          </a:bodyPr>
          <a:lstStyle>
            <a:lvl1pPr algn="l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186BF-7340-4334-86FF-20FAAF566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10"/>
            <a:ext cx="9144000" cy="1828801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latin typeface="+mj-lt"/>
                <a:ea typeface="+mj-lt"/>
                <a:cs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DC8CC-6DA1-44E1-AA32-45B9D76EB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</p:spPr>
        <p:txBody>
          <a:bodyPr anchor="b">
            <a:normAutofit/>
          </a:bodyPr>
          <a:lstStyle>
            <a:lvl1pPr algn="ctr">
              <a:buNone/>
              <a:defRPr sz="24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186BF-7340-4334-86FF-20FAAF566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00"/>
            <a:ext cx="9144000" cy="1828800"/>
          </a:xfrm>
        </p:spPr>
        <p:txBody>
          <a:bodyPr>
            <a:noAutofit/>
          </a:bodyPr>
          <a:lstStyle>
            <a:lvl1pPr marL="0" indent="0" algn="ctr">
              <a:buNone/>
              <a:defRPr sz="6000">
                <a:latin typeface="+mj-lt"/>
                <a:ea typeface="+mj-lt"/>
                <a:cs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pic>
        <p:nvPicPr>
          <p:cNvPr id="4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8" y="5610255"/>
            <a:ext cx="3234687" cy="1195200"/>
          </a:xfrm>
          <a:prstGeom prst="rect">
            <a:avLst/>
          </a:prstGeom>
        </p:spPr>
      </p:pic>
      <p:pic>
        <p:nvPicPr>
          <p:cNvPr id="5" name="Bildobjekt 3"/>
          <p:cNvPicPr>
            <a:picLocks noChangeAspect="1"/>
          </p:cNvPicPr>
          <p:nvPr/>
        </p:nvPicPr>
        <p:blipFill>
          <a:blip r:embed="rId3"/>
          <a:srcRect l="329" t="27767" r="-329" b="30434"/>
          <a:stretch/>
        </p:blipFill>
        <p:spPr>
          <a:xfrm>
            <a:off x="8295206" y="5788359"/>
            <a:ext cx="3617046" cy="8819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 without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DC8CC-6DA1-44E1-AA32-45B9D76EB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</p:spPr>
        <p:txBody>
          <a:bodyPr anchor="b">
            <a:normAutofit/>
          </a:bodyPr>
          <a:lstStyle>
            <a:lvl1pPr algn="ctr">
              <a:buNone/>
              <a:defRPr sz="24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186BF-7340-4334-86FF-20FAAF566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00"/>
            <a:ext cx="9144000" cy="1828800"/>
          </a:xfrm>
        </p:spPr>
        <p:txBody>
          <a:bodyPr>
            <a:noAutofit/>
          </a:bodyPr>
          <a:lstStyle>
            <a:lvl1pPr marL="0" indent="0" algn="ctr">
              <a:buNone/>
              <a:defRPr sz="6000">
                <a:latin typeface="+mj-lt"/>
                <a:ea typeface="+mj-lt"/>
                <a:cs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pic>
        <p:nvPicPr>
          <p:cNvPr id="4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8" y="5610255"/>
            <a:ext cx="3234687" cy="1195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6130800"/>
            <a:ext cx="1821947" cy="673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B75322-5373-499E-AF2D-2170CC9A0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519242"/>
            <a:ext cx="10515600" cy="1909758"/>
          </a:xfrm>
        </p:spPr>
        <p:txBody>
          <a:bodyPr anchor="b">
            <a:normAutofit/>
          </a:bodyPr>
          <a:lstStyle>
            <a:lvl1pPr>
              <a:buNone/>
              <a:defRPr sz="36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AD21B-931A-4064-8D73-165D96D91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3502800"/>
            <a:ext cx="10515600" cy="2628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1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3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4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6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99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1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32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9D274-9D58-4C59-BF24-08319E8A827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F7DC7EC-3BAF-A746-B828-B95B4F274C77}" type="datetime1">
              <a:t>2026-06-22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FF1B3-BEF7-476C-9C24-6F6824C23A5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DCECA-8742-4DDD-8038-0C0682EA79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D05C8B6-EC5E-42D9-8D75-1E05D642856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D5F28-9CA8-4998-8631-C03E7886F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CC860-BB16-4E0C-B870-8B2366E75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4254337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F96C9-5579-4CED-A338-A836AEE06E7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79D96A5-407E-0148-B22C-2F9D8A977183}" type="datetime1">
              <a:t>2026-06-22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A41CD-1A6A-456B-BCAE-4B73471B30D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AF9EE-7694-4BC1-BDBC-514D317EEE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9" name="Rak 5">
            <a:extLst>
              <a:ext uri="{FF2B5EF4-FFF2-40B4-BE49-F238E27FC236}">
                <a16:creationId xmlns:a16="http://schemas.microsoft.com/office/drawing/2014/main" id="{835B80DC-8102-4286-8D76-2B470EA964B5}"/>
              </a:ext>
            </a:extLst>
          </p:cNvPr>
          <p:cNvSpPr>
            <a:spLocks noGrp="1"/>
          </p:cNvSpPr>
          <p:nvPr/>
        </p:nv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6130800"/>
            <a:ext cx="1821947" cy="673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E5D60-9FEA-4061-AE29-F7A1A0AE6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D652D-D723-4261-9B8C-661B6699F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9"/>
            <a:ext cx="5181600" cy="4241481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72E162-7D8A-446C-B6C3-D8589681144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6"/>
            <a:ext cx="5181600" cy="4254337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CDECF-AB46-421A-B3EA-954167E551C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F7034A7-DB8B-9B41-910C-2CF55AF33150}" type="datetime1">
              <a:t>2026-06-22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FB67D-8CC2-4E5B-BF93-6B7E5BF4B2A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LiU PowerPoint-mall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AF80C1-A5DA-4E08-8CAE-B47DD97A39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11" name="Rak 5">
            <a:extLst>
              <a:ext uri="{FF2B5EF4-FFF2-40B4-BE49-F238E27FC236}">
                <a16:creationId xmlns:a16="http://schemas.microsoft.com/office/drawing/2014/main" id="{993AFD96-4609-44F4-8F68-8AA9F5474687}"/>
              </a:ext>
            </a:extLst>
          </p:cNvPr>
          <p:cNvSpPr>
            <a:spLocks noGrp="1"/>
          </p:cNvSpPr>
          <p:nvPr/>
        </p:nv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pic>
        <p:nvPicPr>
          <p:cNvPr id="12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6130800"/>
            <a:ext cx="1821947" cy="673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AC1DA-1DF7-4806-9BFE-693752D8E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AEAAB-6C1D-4159-B092-4584A8886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+mj-lt"/>
                <a:ea typeface="+mj-lt"/>
                <a:cs typeface="+mj-lt"/>
              </a:defRPr>
            </a:lvl1pPr>
            <a:lvl2pPr marL="457167" indent="0">
              <a:buNone/>
              <a:defRPr sz="2000" b="1"/>
            </a:lvl2pPr>
            <a:lvl3pPr marL="914332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30" indent="0">
              <a:buNone/>
              <a:defRPr sz="1600" b="1"/>
            </a:lvl6pPr>
            <a:lvl7pPr marL="2742994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7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35E44-E48F-4B64-BC38-36AE1423EEC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9" y="2505085"/>
            <a:ext cx="5157787" cy="3571673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40FBBF-9493-4795-A84B-B36E22050892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3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+mj-lt"/>
                <a:ea typeface="+mj-lt"/>
                <a:cs typeface="+mj-lt"/>
              </a:defRPr>
            </a:lvl1pPr>
            <a:lvl2pPr marL="457167" indent="0">
              <a:buNone/>
              <a:defRPr sz="2000" b="1"/>
            </a:lvl2pPr>
            <a:lvl3pPr marL="914332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30" indent="0">
              <a:buNone/>
              <a:defRPr sz="1600" b="1"/>
            </a:lvl6pPr>
            <a:lvl7pPr marL="2742994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7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B4785-7E60-4E95-8686-80793897419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3" y="2505085"/>
            <a:ext cx="5183188" cy="3568459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52B86A-85B7-4456-A609-BB084D0B26B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1A303F4-E9E2-3342-AC93-D695E9586D98}" type="datetime1">
              <a:t>2026-06-22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C08846-8A71-4321-93F6-BFCE99CB4A5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LiU PowerPoint-mall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B0CCA9-80F4-4FE7-B4FD-9FB654545F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13" name="Rak 5">
            <a:extLst>
              <a:ext uri="{FF2B5EF4-FFF2-40B4-BE49-F238E27FC236}">
                <a16:creationId xmlns:a16="http://schemas.microsoft.com/office/drawing/2014/main" id="{0E149B79-225B-4286-8AD6-B1D148E806A6}"/>
              </a:ext>
            </a:extLst>
          </p:cNvPr>
          <p:cNvSpPr>
            <a:spLocks noGrp="1"/>
          </p:cNvSpPr>
          <p:nvPr/>
        </p:nv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pic>
        <p:nvPicPr>
          <p:cNvPr id="14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6130800"/>
            <a:ext cx="1821947" cy="673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C3FE9-5F5B-413D-B4E8-BD7E2968F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082EEB-76C9-46A2-8992-24100BBA5F9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1E19D5B-AC5F-1D45-9295-D6F35A91C2C9}" type="datetime1">
              <a:t>2026-06-22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1F3176-8332-460F-839F-8C36305CF83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LiU PowerPoint-mall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0BA3FD-78E6-4451-96E1-12B31AC3BA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9" name="Rak 5">
            <a:extLst>
              <a:ext uri="{FF2B5EF4-FFF2-40B4-BE49-F238E27FC236}">
                <a16:creationId xmlns:a16="http://schemas.microsoft.com/office/drawing/2014/main" id="{B0F60780-C528-4367-8C83-91C887A5095F}"/>
              </a:ext>
            </a:extLst>
          </p:cNvPr>
          <p:cNvSpPr>
            <a:spLocks noGrp="1"/>
          </p:cNvSpPr>
          <p:nvPr/>
        </p:nv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pic>
        <p:nvPicPr>
          <p:cNvPr id="10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6130800"/>
            <a:ext cx="1821947" cy="673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96CBC0-C319-4952-8F5C-99292872E29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EE1D48A-CAE5-C84B-A647-F49494EFDA79}" type="datetime1">
              <a:t>2026-06-22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66394A-EC6D-4B1F-8267-B06B1013644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LiU PowerPoint-mall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DF935-E895-4D21-A182-6E15EDC728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8" name="Rak 5">
            <a:extLst>
              <a:ext uri="{FF2B5EF4-FFF2-40B4-BE49-F238E27FC236}">
                <a16:creationId xmlns:a16="http://schemas.microsoft.com/office/drawing/2014/main" id="{CFB8A385-18B6-4AAA-B0E3-17976D448F45}"/>
              </a:ext>
            </a:extLst>
          </p:cNvPr>
          <p:cNvSpPr>
            <a:spLocks noGrp="1"/>
          </p:cNvSpPr>
          <p:nvPr/>
        </p:nv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pic>
        <p:nvPicPr>
          <p:cNvPr id="9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6130800"/>
            <a:ext cx="1821947" cy="673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980A2-67AA-45AE-A4A3-02C24D5D2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FC7A9-016D-4F8D-95F8-AE268FFCD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509253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9E2521-9433-4ED7-A38E-EB976F0B35C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2"/>
            <a:ext cx="3932237" cy="4022563"/>
          </a:xfrm>
        </p:spPr>
        <p:txBody>
          <a:bodyPr/>
          <a:lstStyle>
            <a:lvl1pPr marL="0" indent="0">
              <a:buNone/>
              <a:defRPr sz="1600"/>
            </a:lvl1pPr>
            <a:lvl2pPr marL="457167" indent="0">
              <a:buNone/>
              <a:defRPr sz="1400"/>
            </a:lvl2pPr>
            <a:lvl3pPr marL="914332" indent="0">
              <a:buNone/>
              <a:defRPr sz="1200"/>
            </a:lvl3pPr>
            <a:lvl4pPr marL="1371498" indent="0">
              <a:buNone/>
              <a:defRPr sz="1000"/>
            </a:lvl4pPr>
            <a:lvl5pPr marL="1828664" indent="0">
              <a:buNone/>
              <a:defRPr sz="1000"/>
            </a:lvl5pPr>
            <a:lvl6pPr marL="2285830" indent="0">
              <a:buNone/>
              <a:defRPr sz="1000"/>
            </a:lvl6pPr>
            <a:lvl7pPr marL="2742994" indent="0">
              <a:buNone/>
              <a:defRPr sz="1000"/>
            </a:lvl7pPr>
            <a:lvl8pPr marL="3200160" indent="0">
              <a:buNone/>
              <a:defRPr sz="1000"/>
            </a:lvl8pPr>
            <a:lvl9pPr marL="3657327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AEBBB-5F59-4CE5-8F95-88A1C188539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F14069A-9C67-E843-A051-20111198E023}" type="datetime1">
              <a:t>2026-06-22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D4F3F-4FD6-423B-8630-8675366330D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LiU PowerPoint-mall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6012F-A692-4BBB-B0E2-A40D6C3917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26" name="Rak 5">
            <a:extLst>
              <a:ext uri="{FF2B5EF4-FFF2-40B4-BE49-F238E27FC236}">
                <a16:creationId xmlns:a16="http://schemas.microsoft.com/office/drawing/2014/main" id="{CF1B529D-BDA5-458D-97BC-A97A8D327A80}"/>
              </a:ext>
            </a:extLst>
          </p:cNvPr>
          <p:cNvSpPr>
            <a:spLocks noGrp="1"/>
          </p:cNvSpPr>
          <p:nvPr/>
        </p:nv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pic>
        <p:nvPicPr>
          <p:cNvPr id="27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6130800"/>
            <a:ext cx="1821947" cy="673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48F90-6F0B-4082-A03A-25C0D0EEE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BE1322-944E-410B-A503-071D16B244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5092533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167" indent="0">
              <a:buNone/>
              <a:defRPr sz="2800"/>
            </a:lvl2pPr>
            <a:lvl3pPr marL="914332" indent="0">
              <a:buNone/>
              <a:defRPr sz="2400"/>
            </a:lvl3pPr>
            <a:lvl4pPr marL="1371498" indent="0">
              <a:buNone/>
              <a:defRPr sz="2000"/>
            </a:lvl4pPr>
            <a:lvl5pPr marL="1828664" indent="0">
              <a:buNone/>
              <a:defRPr sz="2000"/>
            </a:lvl5pPr>
            <a:lvl6pPr marL="2285830" indent="0">
              <a:buNone/>
              <a:defRPr sz="2000"/>
            </a:lvl6pPr>
            <a:lvl7pPr marL="2742994" indent="0">
              <a:buNone/>
              <a:defRPr sz="2000"/>
            </a:lvl7pPr>
            <a:lvl8pPr marL="3200160" indent="0">
              <a:buNone/>
              <a:defRPr sz="2000"/>
            </a:lvl8pPr>
            <a:lvl9pPr marL="3657327" indent="0">
              <a:buNone/>
              <a:defRPr sz="200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96F69F-E2CD-4CAC-B28E-04F7F59CDF7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2"/>
            <a:ext cx="3932237" cy="4022563"/>
          </a:xfrm>
        </p:spPr>
        <p:txBody>
          <a:bodyPr/>
          <a:lstStyle>
            <a:lvl1pPr marL="0" indent="0">
              <a:buNone/>
              <a:defRPr sz="1600"/>
            </a:lvl1pPr>
            <a:lvl2pPr marL="457167" indent="0">
              <a:buNone/>
              <a:defRPr sz="1400"/>
            </a:lvl2pPr>
            <a:lvl3pPr marL="914332" indent="0">
              <a:buNone/>
              <a:defRPr sz="1200"/>
            </a:lvl3pPr>
            <a:lvl4pPr marL="1371498" indent="0">
              <a:buNone/>
              <a:defRPr sz="1000"/>
            </a:lvl4pPr>
            <a:lvl5pPr marL="1828664" indent="0">
              <a:buNone/>
              <a:defRPr sz="1000"/>
            </a:lvl5pPr>
            <a:lvl6pPr marL="2285830" indent="0">
              <a:buNone/>
              <a:defRPr sz="1000"/>
            </a:lvl6pPr>
            <a:lvl7pPr marL="2742994" indent="0">
              <a:buNone/>
              <a:defRPr sz="1000"/>
            </a:lvl7pPr>
            <a:lvl8pPr marL="3200160" indent="0">
              <a:buNone/>
              <a:defRPr sz="1000"/>
            </a:lvl8pPr>
            <a:lvl9pPr marL="3657327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D6119C-D6E1-438D-B01E-CF6E63D023A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A9666F6-D8A7-EA46-BB4B-3C04081A8C95}" type="datetime1">
              <a:t>2026-06-22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2FECA-0FDF-4E93-B1B1-6CF623CF2A1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LiU PowerPoint-mall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55D90-D9E3-425D-B3DC-406845F9C0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8" name="Rak 5">
            <a:extLst>
              <a:ext uri="{FF2B5EF4-FFF2-40B4-BE49-F238E27FC236}">
                <a16:creationId xmlns:a16="http://schemas.microsoft.com/office/drawing/2014/main" id="{669C86E1-7458-4809-B24A-0FAF814E728A}"/>
              </a:ext>
            </a:extLst>
          </p:cNvPr>
          <p:cNvSpPr>
            <a:spLocks noGrp="1"/>
          </p:cNvSpPr>
          <p:nvPr/>
        </p:nv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6130800"/>
            <a:ext cx="1821947" cy="673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37040-A9FD-4D9F-927E-3D89FFE81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F4497-9EDB-4DEA-8405-69C17F3ABC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985C7-46FC-4066-B9D3-B0D0DB8037A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2E9693-29DA-C242-AC0C-8F08E50D3E01}" type="datetime1">
              <a:t>2026-06-22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83B8B-54A4-4A15-BB63-FCDC3A44F50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9CEAC-1427-4BEA-8982-30CAE04DC3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D05C8B6-EC5E-42D9-8D75-1E05D642856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B31E45-D6F3-4F73-BEDF-5BEDAFC5A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266AE-17DB-428F-A2F6-8D0CA1386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4654A-FDE6-4601-9D75-FA956B136DD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 rot="5400000">
            <a:off x="11103000" y="5049000"/>
            <a:ext cx="1818000" cy="360000"/>
          </a:xfrm>
        </p:spPr>
        <p:txBody>
          <a:bodyPr/>
          <a:lstStyle/>
          <a:p>
            <a:fld id="{EB38C32D-A51F-C743-B0D8-2864DD9004EC}" type="datetime1">
              <a:t>2026-06-22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8F030-2FCB-40E4-B64D-2629C80F11C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 rot="5400000">
            <a:off x="9852000" y="1980000"/>
            <a:ext cx="4320000" cy="360000"/>
          </a:xfrm>
        </p:spPr>
        <p:txBody>
          <a:bodyPr lIns="180000"/>
          <a:lstStyle/>
          <a:p>
            <a:r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C8C35-D10B-42B0-92F4-58D676FE104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 rot="5400000">
            <a:off x="11652000" y="6318000"/>
            <a:ext cx="720000" cy="360000"/>
          </a:xfrm>
        </p:spPr>
        <p:txBody>
          <a:bodyPr rIns="180000"/>
          <a:lstStyle/>
          <a:p>
            <a:fld id="{1D05C8B6-EC5E-42D9-8D75-1E05D642856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140EFF5-A8E0-7DAD-176F-E72BFF13C7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17FB3B5-4F42-D632-D63B-83B116FF6D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10"/>
            <a:ext cx="9144000" cy="1828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>
                <a:latin typeface="+mj-lt"/>
                <a:ea typeface="+mj-lt"/>
                <a:cs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pic>
        <p:nvPicPr>
          <p:cNvPr id="8" name="Bildobjekt 7"/>
          <p:cNvPicPr>
            <a:picLocks noChangeAspect="1"/>
          </p:cNvPicPr>
          <p:nvPr/>
        </p:nvPicPr>
        <p:blipFill>
          <a:blip r:embed="rId3"/>
          <a:srcRect t="29499" b="29358"/>
          <a:stretch/>
        </p:blipFill>
        <p:spPr>
          <a:xfrm>
            <a:off x="8627301" y="5773205"/>
            <a:ext cx="3515927" cy="8438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out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517FB3B5-4F42-D632-D63B-83B116FF6D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10"/>
            <a:ext cx="9144000" cy="1828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>
                <a:latin typeface="+mj-lt"/>
                <a:ea typeface="+mj-lt"/>
                <a:cs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C4B1FBD-A2E6-E934-6F2C-03A6186F34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50F64-F221-605C-0587-D50232167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buNone/>
              <a:defRPr sz="2400"/>
            </a:lvl1pPr>
          </a:lstStyle>
          <a:p>
            <a:r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F7E6BB3-F45B-054C-44C0-8D5C860763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00"/>
            <a:ext cx="9144000" cy="182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6000">
                <a:latin typeface="+mj-lt"/>
                <a:ea typeface="+mj-lt"/>
                <a:cs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pic>
        <p:nvPicPr>
          <p:cNvPr id="8" name="Bildobjekt 7"/>
          <p:cNvPicPr>
            <a:picLocks noChangeAspect="1"/>
          </p:cNvPicPr>
          <p:nvPr/>
        </p:nvPicPr>
        <p:blipFill>
          <a:blip r:embed="rId3"/>
          <a:srcRect t="29499" b="29358"/>
          <a:stretch/>
        </p:blipFill>
        <p:spPr>
          <a:xfrm>
            <a:off x="8627301" y="5773205"/>
            <a:ext cx="3515927" cy="8438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without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50F64-F221-605C-0587-D50232167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buNone/>
              <a:defRPr sz="2400"/>
            </a:lvl1pPr>
          </a:lstStyle>
          <a:p>
            <a:r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F7E6BB3-F45B-054C-44C0-8D5C860763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00"/>
            <a:ext cx="9144000" cy="182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6000">
                <a:latin typeface="+mj-lt"/>
                <a:ea typeface="+mj-lt"/>
                <a:cs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2CCAC34-4500-80FA-6E65-692C400A21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17BF761-9343-4E2F-3C71-38F372AD95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10"/>
            <a:ext cx="9144000" cy="1828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>
                <a:latin typeface="+mj-lt"/>
                <a:ea typeface="+mj-lt"/>
                <a:cs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pic>
        <p:nvPicPr>
          <p:cNvPr id="8" name="Bildobjekt 7"/>
          <p:cNvPicPr>
            <a:picLocks noChangeAspect="1"/>
          </p:cNvPicPr>
          <p:nvPr/>
        </p:nvPicPr>
        <p:blipFill>
          <a:blip r:embed="rId3"/>
          <a:srcRect t="29499" b="29358"/>
          <a:stretch/>
        </p:blipFill>
        <p:spPr>
          <a:xfrm>
            <a:off x="8627301" y="5773205"/>
            <a:ext cx="3515927" cy="8438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6904AC8-96B1-A5E5-4841-521DD8EFBB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buNone/>
              <a:defRPr sz="2400"/>
            </a:lvl1pPr>
          </a:lstStyle>
          <a:p>
            <a:r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D4B3162-9EDA-1153-EAC7-AD6D63E29B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00"/>
            <a:ext cx="9144000" cy="182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6000">
                <a:latin typeface="+mj-lt"/>
                <a:ea typeface="+mj-lt"/>
                <a:cs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pic>
        <p:nvPicPr>
          <p:cNvPr id="8" name="Bildobjekt 7"/>
          <p:cNvPicPr>
            <a:picLocks noChangeAspect="1"/>
          </p:cNvPicPr>
          <p:nvPr/>
        </p:nvPicPr>
        <p:blipFill>
          <a:blip r:embed="rId3"/>
          <a:srcRect t="29499" b="29358"/>
          <a:stretch/>
        </p:blipFill>
        <p:spPr>
          <a:xfrm>
            <a:off x="8627301" y="5773205"/>
            <a:ext cx="3515927" cy="8438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42B9A6-B68C-22E2-A042-7696F095FA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FBAA0D17-D7EA-2CF0-7656-B442B781F8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10"/>
            <a:ext cx="9144000" cy="1828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>
                <a:latin typeface="+mj-lt"/>
                <a:ea typeface="+mj-lt"/>
                <a:cs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pic>
        <p:nvPicPr>
          <p:cNvPr id="8" name="Bildobjekt 7"/>
          <p:cNvPicPr>
            <a:picLocks noChangeAspect="1"/>
          </p:cNvPicPr>
          <p:nvPr/>
        </p:nvPicPr>
        <p:blipFill>
          <a:blip r:embed="rId3"/>
          <a:srcRect t="29499" b="29358"/>
          <a:stretch/>
        </p:blipFill>
        <p:spPr>
          <a:xfrm>
            <a:off x="8627301" y="5773205"/>
            <a:ext cx="3515927" cy="8438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EF023FD-B025-4F18-7F62-242EEAFCF2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buNone/>
              <a:defRPr sz="2400"/>
            </a:lvl1pPr>
          </a:lstStyle>
          <a:p>
            <a:r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BDEA4E6-6CDC-79FF-90AC-A5B5635946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00"/>
            <a:ext cx="9144000" cy="182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6000">
                <a:latin typeface="+mj-lt"/>
                <a:ea typeface="+mj-lt"/>
                <a:cs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pic>
        <p:nvPicPr>
          <p:cNvPr id="8" name="Bildobjekt 7"/>
          <p:cNvPicPr>
            <a:picLocks noChangeAspect="1"/>
          </p:cNvPicPr>
          <p:nvPr/>
        </p:nvPicPr>
        <p:blipFill>
          <a:blip r:embed="rId3"/>
          <a:srcRect t="29499" b="29358"/>
          <a:stretch/>
        </p:blipFill>
        <p:spPr>
          <a:xfrm>
            <a:off x="8627301" y="5773205"/>
            <a:ext cx="3515927" cy="8438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D63F06-CA2C-7719-E422-C0E3AA391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8811642-4F3A-62E0-0C7F-4A9BC473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10"/>
            <a:ext cx="9144000" cy="1828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>
                <a:latin typeface="+mj-lt"/>
                <a:ea typeface="+mj-lt"/>
                <a:cs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8F7A746-BE8D-3A16-666F-3A5C83F0B6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6B0FFC9-DE55-9168-6369-57A3F55EF6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10"/>
            <a:ext cx="9144000" cy="1828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>
                <a:latin typeface="+mj-lt"/>
                <a:ea typeface="+mj-lt"/>
                <a:cs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4808BC3-1193-3C00-32BD-BB91001D4D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7B13D68-5CAB-94BB-A55E-510F53ECF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10"/>
            <a:ext cx="9144000" cy="1828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>
                <a:latin typeface="+mj-lt"/>
                <a:ea typeface="+mj-lt"/>
                <a:cs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37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38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C0C72-79A0-4655-B207-9739A684267D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292263" y="-5129"/>
            <a:ext cx="2520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r">
              <a:buNone/>
              <a:defRPr sz="11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fld id="{ACA550EA-F544-F241-9F1D-293838448071}" type="datetime1">
              <a:t>2026-06-22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00D10-5EE3-4AEB-8900-1A07916BEF4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944563" y="0"/>
            <a:ext cx="4320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l">
              <a:buNone/>
              <a:defRPr sz="11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A2BB8-8F26-4AF0-AE95-D41EE971F00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812263" y="0"/>
            <a:ext cx="432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r">
              <a:buNone/>
              <a:defRPr sz="11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95614DB-B4BD-B118-CFF9-882C1BFEA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Klicka här för att ändra mall för rubrikformat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93FF054-CAE4-221B-109C-59EBA5384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05174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Klicka här för att ändra format på bakgrundstexten</a:t>
            </a:r>
          </a:p>
          <a:p>
            <a:pPr>
              <a:buNone/>
            </a:pPr>
            <a:r>
              <a:t>Nivå två</a:t>
            </a:r>
          </a:p>
          <a:p>
            <a:pPr>
              <a:buNone/>
            </a:pPr>
            <a:r>
              <a:t>Nivå tre</a:t>
            </a:r>
          </a:p>
          <a:p>
            <a:pPr>
              <a:buNone/>
            </a:pPr>
            <a:r>
              <a:t>Nivå fyra</a:t>
            </a:r>
          </a:p>
          <a:p>
            <a:pPr>
              <a:buNone/>
            </a:pPr>
            <a:r>
              <a:t>Nivå fem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584" indent="-228584" algn="l">
        <a:lnSpc>
          <a:spcPct val="10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marL="685750" indent="-228584" algn="l">
        <a:lnSpc>
          <a:spcPct val="10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2914" indent="-228584" algn="l">
        <a:lnSpc>
          <a:spcPct val="10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080" indent="-228584" algn="l">
        <a:lnSpc>
          <a:spcPct val="10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247" indent="-228584" algn="l">
        <a:lnSpc>
          <a:spcPct val="10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412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578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8744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5910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167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332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498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664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583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2994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16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327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1" pos="595" userDrawn="1">
          <p15:clr>
            <a:srgbClr val="F26B43"/>
          </p15:clr>
        </p15:guide>
        <p15:guide id="12" pos="7083" userDrawn="1">
          <p15:clr>
            <a:srgbClr val="F26B43"/>
          </p15:clr>
        </p15:guide>
        <p15:guide id="13" orient="horz" pos="216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C40FA7-E471-44B9-9D5D-7D0B44EE4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A0C30D-C99C-4CD5-B7FD-541C85BF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05174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C0C72-79A0-4655-B207-9739A684267D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292263" y="0"/>
            <a:ext cx="2520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r">
              <a:buNone/>
              <a:defRPr sz="1100">
                <a:solidFill>
                  <a:schemeClr val="tx1">
                    <a:tint val="7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fld id="{4A82310E-5B4D-5E4A-9458-F175B0C05AA9}" type="datetime1">
              <a:t>2026-06-22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00D10-5EE3-4AEB-8900-1A07916BEF4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944563" y="0"/>
            <a:ext cx="4320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l">
              <a:buNone/>
              <a:defRPr sz="1100">
                <a:solidFill>
                  <a:schemeClr val="tx1">
                    <a:tint val="7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A2BB8-8F26-4AF0-AE95-D41EE971F00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812263" y="0"/>
            <a:ext cx="432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r">
              <a:buNone/>
              <a:defRPr sz="1100">
                <a:solidFill>
                  <a:schemeClr val="tx1">
                    <a:tint val="7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fld id="{1D05C8B6-EC5E-42D9-8D75-1E05D6428564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hf sldNum="0"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584" indent="-228584" algn="l">
        <a:lnSpc>
          <a:spcPct val="10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marL="685750" indent="-228584" algn="l">
        <a:lnSpc>
          <a:spcPct val="10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2914" indent="-228584" algn="l">
        <a:lnSpc>
          <a:spcPct val="10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080" indent="-228584" algn="l">
        <a:lnSpc>
          <a:spcPct val="10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247" indent="-228584" algn="l">
        <a:lnSpc>
          <a:spcPct val="10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412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578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8744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5910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167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332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498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664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583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2994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16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327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1" pos="595" userDrawn="1">
          <p15:clr>
            <a:srgbClr val="F26B43"/>
          </p15:clr>
        </p15:guide>
        <p15:guide id="12" pos="7083" userDrawn="1">
          <p15:clr>
            <a:srgbClr val="F26B43"/>
          </p15:clr>
        </p15:guide>
        <p15:guide id="13" orient="horz" pos="216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E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C0C72-79A0-4655-B207-9739A684267D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292263" y="-5129"/>
            <a:ext cx="2520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r">
              <a:buNone/>
              <a:defRPr sz="11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fld id="{41FF40AD-5146-EC40-B555-0F748959FBB7}" type="datetime1">
              <a:t>2026-06-22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00D10-5EE3-4AEB-8900-1A07916BEF4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944563" y="0"/>
            <a:ext cx="4320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l">
              <a:buNone/>
              <a:defRPr sz="11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A2BB8-8F26-4AF0-AE95-D41EE971F00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812263" y="0"/>
            <a:ext cx="432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r">
              <a:buNone/>
              <a:defRPr sz="11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66151E9D-67B4-08D2-691C-8AF8CD9F2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1B741C9-6AA6-F26F-9A01-4F1A2150E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05174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</p:sldLayoutIdLst>
  <p:hf sldNum="0"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584" indent="-228584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marL="685750" indent="-228584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2914" indent="-228584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080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247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412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578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8744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5910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167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332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498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664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583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2994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16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327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1" pos="595">
          <p15:clr>
            <a:srgbClr val="F26B43"/>
          </p15:clr>
        </p15:guide>
        <p15:guide id="12" pos="7083">
          <p15:clr>
            <a:srgbClr val="F26B43"/>
          </p15:clr>
        </p15:guide>
        <p15:guide id="13" orient="horz" pos="216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DC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C0C72-79A0-4655-B207-9739A684267D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292263" y="-5129"/>
            <a:ext cx="2520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r">
              <a:buNone/>
              <a:defRPr sz="11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fld id="{41FF40AD-5146-EC40-B555-0F748959FBB7}" type="datetime1">
              <a:t>2026-06-22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00D10-5EE3-4AEB-8900-1A07916BEF4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944563" y="0"/>
            <a:ext cx="4320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l">
              <a:buNone/>
              <a:defRPr sz="11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A2BB8-8F26-4AF0-AE95-D41EE971F00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812263" y="0"/>
            <a:ext cx="432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r">
              <a:buNone/>
              <a:defRPr sz="11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E5EF535-F295-A5A9-2A7A-88628C2C7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4DEEA3B-5EA6-0E73-0502-6AC7FCC59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05174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</p:sldLayoutIdLst>
  <p:hf sldNum="0"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584" indent="-228584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marL="685750" indent="-228584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2914" indent="-228584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080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247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412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578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8744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5910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167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332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498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664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583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2994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16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327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1" pos="595">
          <p15:clr>
            <a:srgbClr val="F26B43"/>
          </p15:clr>
        </p15:guide>
        <p15:guide id="12" pos="7083">
          <p15:clr>
            <a:srgbClr val="F26B43"/>
          </p15:clr>
        </p15:guide>
        <p15:guide id="13" orient="horz" pos="216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C0C72-79A0-4655-B207-9739A684267D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292263" y="-5129"/>
            <a:ext cx="2520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r">
              <a:buNone/>
              <a:defRPr sz="11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fld id="{41FF40AD-5146-EC40-B555-0F748959FBB7}" type="datetime1">
              <a:t>2026-06-22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00D10-5EE3-4AEB-8900-1A07916BEF4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944563" y="0"/>
            <a:ext cx="4320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l">
              <a:buNone/>
              <a:defRPr sz="11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A2BB8-8F26-4AF0-AE95-D41EE971F00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812263" y="0"/>
            <a:ext cx="432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r">
              <a:buNone/>
              <a:defRPr sz="11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E38878DD-E2F8-7CF9-6E82-7C05630F9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FC5E8A3-130E-3D62-4C7B-8594B9756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05174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</p:sldLayoutIdLst>
  <p:hf sldNum="0"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584" indent="-228584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marL="685750" indent="-228584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2914" indent="-228584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080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247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412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578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8744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5910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167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332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498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664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583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2994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16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327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1" pos="595">
          <p15:clr>
            <a:srgbClr val="F26B43"/>
          </p15:clr>
        </p15:guide>
        <p15:guide id="12" pos="7083">
          <p15:clr>
            <a:srgbClr val="F26B43"/>
          </p15:clr>
        </p15:guide>
        <p15:guide id="13" orient="horz" pos="216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1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C0C72-79A0-4655-B207-9739A684267D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292263" y="-5129"/>
            <a:ext cx="2520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r">
              <a:buNone/>
              <a:defRPr sz="11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fld id="{41FF40AD-5146-EC40-B555-0F748959FBB7}" type="datetime1">
              <a:t>2026-06-22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00D10-5EE3-4AEB-8900-1A07916BEF4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944563" y="0"/>
            <a:ext cx="4320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l">
              <a:buNone/>
              <a:defRPr sz="11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A2BB8-8F26-4AF0-AE95-D41EE971F00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812263" y="0"/>
            <a:ext cx="432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r">
              <a:buNone/>
              <a:defRPr sz="11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068B71B-1B92-8705-C30C-A98052D23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43CB22F-037D-6BFA-206E-B9C4F88CC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05174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</p:sldLayoutIdLst>
  <p:hf sldNum="0"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584" indent="-228584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marL="685750" indent="-228584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2914" indent="-228584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080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247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412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578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8744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5910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167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332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498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664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583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2994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16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327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1" pos="595">
          <p15:clr>
            <a:srgbClr val="F26B43"/>
          </p15:clr>
        </p15:guide>
        <p15:guide id="12" pos="7083">
          <p15:clr>
            <a:srgbClr val="F26B43"/>
          </p15:clr>
        </p15:guide>
        <p15:guide id="13" orient="horz" pos="2160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C0C72-79A0-4655-B207-9739A684267D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292263" y="-5129"/>
            <a:ext cx="2520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r">
              <a:buNone/>
              <a:defRPr sz="11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fld id="{41FF40AD-5146-EC40-B555-0F748959FBB7}" type="datetime1">
              <a:t>2026-06-22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00D10-5EE3-4AEB-8900-1A07916BEF4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944563" y="0"/>
            <a:ext cx="4320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l">
              <a:buNone/>
              <a:defRPr sz="11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A2BB8-8F26-4AF0-AE95-D41EE971F00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812263" y="0"/>
            <a:ext cx="432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r">
              <a:buNone/>
              <a:defRPr sz="11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C5E34EB-7EBA-EBB9-1639-47D7EE0C2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C50C888-B1D7-4AB4-11CD-BFEDD3874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05174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hf sldNum="0"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584" indent="-228584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marL="685750" indent="-228584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2914" indent="-228584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080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247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412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578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8744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5910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167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332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498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664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583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2994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16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327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1" pos="595">
          <p15:clr>
            <a:srgbClr val="F26B43"/>
          </p15:clr>
        </p15:guide>
        <p15:guide id="12" pos="7083">
          <p15:clr>
            <a:srgbClr val="F26B43"/>
          </p15:clr>
        </p15:guide>
        <p15:guide id="13" orient="horz" pos="2160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C0C72-79A0-4655-B207-9739A684267D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292263" y="-5129"/>
            <a:ext cx="2520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r">
              <a:buNone/>
              <a:defRPr sz="11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fld id="{41FF40AD-5146-EC40-B555-0F748959FBB7}" type="datetime1">
              <a:t>2026-06-22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00D10-5EE3-4AEB-8900-1A07916BEF4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944563" y="0"/>
            <a:ext cx="4320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l">
              <a:buNone/>
              <a:defRPr sz="11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A2BB8-8F26-4AF0-AE95-D41EE971F00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812263" y="0"/>
            <a:ext cx="432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r">
              <a:buNone/>
              <a:defRPr sz="11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FE4DCDB-D222-D978-896C-A951403C1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98B7437-899A-3D4A-4380-F13BF4EA8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05174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hf sldNum="0"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584" indent="-228584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marL="685750" indent="-228584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2914" indent="-228584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080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247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412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578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8744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5910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167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332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498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664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583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2994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16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327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1" pos="595">
          <p15:clr>
            <a:srgbClr val="F26B43"/>
          </p15:clr>
        </p15:guide>
        <p15:guide id="12" pos="7083">
          <p15:clr>
            <a:srgbClr val="F26B43"/>
          </p15:clr>
        </p15:guide>
        <p15:guide id="13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ED15C-17F1-21DB-FF7D-583F0FC11B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40024"/>
            <a:ext cx="9144000" cy="2306637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t>Predicting conflict clusters in Africa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39DB75-AB56-F5D7-F8FB-EDD5F4E4CD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8710" y="3789175"/>
            <a:ext cx="9144000" cy="1828801"/>
          </a:xfrm>
        </p:spPr>
        <p:txBody>
          <a:bodyPr/>
          <a:lstStyle/>
          <a:p>
            <a:pPr>
              <a:lnSpc>
                <a:spcPct val="150000"/>
              </a:lnSpc>
              <a:buNone/>
            </a:pPr>
            <a:r>
              <a:t>A spatiotemporal ACLED pipeline idea</a:t>
            </a:r>
          </a:p>
          <a:p>
            <a:pPr>
              <a:lnSpc>
                <a:spcPct val="150000"/>
              </a:lnSpc>
              <a:buNone/>
            </a:pPr>
            <a:r>
              <a:t>Names: …</a:t>
            </a:r>
          </a:p>
          <a:p>
            <a:pPr>
              <a:lnSpc>
                <a:spcPct val="150000"/>
              </a:lnSpc>
              <a:buNone/>
            </a:pPr>
            <a:r>
              <a:t>June 2026</a:t>
            </a:r>
          </a:p>
        </p:txBody>
      </p:sp>
    </p:spTree>
    <p:extLst>
      <p:ext uri="{BB962C8B-B14F-4D97-AF65-F5344CB8AC3E}">
        <p14:creationId xmlns:p14="http://schemas.microsoft.com/office/powerpoint/2010/main" val="3085860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4F22D-6552-AFDC-236C-FA05ACA2F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>
            <a:normAutofit/>
          </a:bodyPr>
          <a:lstStyle/>
          <a:p>
            <a:r>
              <a:t>Today’s focus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AD5CD-1AA2-E7CB-ED75-C66CE3DF03F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25626"/>
            <a:ext cx="10515600" cy="4254337"/>
          </a:xfrm>
        </p:spPr>
        <p:txBody>
          <a:bodyPr>
            <a:normAutofit fontScale="84985" lnSpcReduction="10000"/>
          </a:bodyPr>
          <a:lstStyle/>
          <a:p>
            <a:pPr>
              <a:lnSpc>
                <a:spcPct val="200000"/>
              </a:lnSpc>
              <a:buNone/>
            </a:pPr>
            <a:r>
              <a:t>1. Conflict clustering as a spatial question</a:t>
            </a:r>
          </a:p>
          <a:p>
            <a:pPr>
              <a:lnSpc>
                <a:spcPct val="200000"/>
              </a:lnSpc>
              <a:buNone/>
            </a:pPr>
            <a:r>
              <a:t>2. What ACLED data contains</a:t>
            </a:r>
          </a:p>
          <a:p>
            <a:pPr>
              <a:lnSpc>
                <a:spcPct val="200000"/>
              </a:lnSpc>
              <a:buNone/>
            </a:pPr>
            <a:r>
              <a:t>3. Turning events into a grid-cell monthly panel</a:t>
            </a:r>
          </a:p>
          <a:p>
            <a:pPr>
              <a:lnSpc>
                <a:spcPct val="200000"/>
              </a:lnSpc>
              <a:buNone/>
            </a:pPr>
            <a:r>
              <a:t>4. Hypotheses: local persistence and spatial diffusion</a:t>
            </a:r>
          </a:p>
          <a:p>
            <a:pPr>
              <a:lnSpc>
                <a:spcPct val="200000"/>
              </a:lnSpc>
              <a:buNone/>
            </a:pPr>
            <a:r>
              <a:t>5. Modeling and validation strategy</a:t>
            </a:r>
          </a:p>
          <a:p>
            <a:pPr>
              <a:lnSpc>
                <a:spcPct val="200000"/>
              </a:lnSpc>
              <a:buNone/>
            </a:pPr>
            <a:r>
              <a:t>6. Reproducible pipeline and next steps</a:t>
            </a:r>
          </a:p>
        </p:txBody>
      </p:sp>
    </p:spTree>
    <p:extLst>
      <p:ext uri="{BB962C8B-B14F-4D97-AF65-F5344CB8AC3E}">
        <p14:creationId xmlns:p14="http://schemas.microsoft.com/office/powerpoint/2010/main" val="1942415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26D55-62A1-8CD9-A049-87107B183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>
            <a:normAutofit/>
          </a:bodyPr>
          <a:lstStyle/>
          <a:p>
            <a:r>
              <a:rPr lang="sv-SE" dirty="0"/>
              <a:t>C</a:t>
            </a:r>
            <a:r>
              <a:rPr dirty="0"/>
              <a:t>ore idea: conflict risk moves through space and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57BED-909E-8C15-2927-D575F2E83CB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25626"/>
            <a:ext cx="10515600" cy="425433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dirty="0"/>
              <a:t>Instead of predicting “conflict in Africa” as one continent-wide number, the project treats conflict as a local and time-varying process.</a:t>
            </a:r>
          </a:p>
          <a:p>
            <a:pPr>
              <a:buNone/>
            </a:pPr>
            <a:r>
              <a:rPr dirty="0"/>
              <a:t>Africa is divided into comparable geographic grid cells, observed month by month.</a:t>
            </a:r>
          </a:p>
          <a:p>
            <a:pPr>
              <a:buNone/>
            </a:pPr>
            <a:r>
              <a:rPr dirty="0"/>
              <a:t>The key question is whether recent conflict in and around a cell helps predict conflict in that cell in the next month.</a:t>
            </a:r>
          </a:p>
          <a:p>
            <a:pPr>
              <a:buNone/>
            </a:pPr>
            <a:r>
              <a:rPr dirty="0"/>
              <a:t>This is designed as an early-warning and risk-mapping project, not as a claim that the model has proven causality.</a:t>
            </a:r>
          </a:p>
        </p:txBody>
      </p:sp>
    </p:spTree>
    <p:extLst>
      <p:ext uri="{BB962C8B-B14F-4D97-AF65-F5344CB8AC3E}">
        <p14:creationId xmlns:p14="http://schemas.microsoft.com/office/powerpoint/2010/main" val="907554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A29E571-6A5E-CD36-11C7-A536A8B10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 anchor="ctr">
            <a:normAutofit/>
          </a:bodyPr>
          <a:lstStyle/>
          <a:p>
            <a:r>
              <a:t>ACLED data planned to be used</a:t>
            </a:r>
          </a:p>
        </p:txBody>
      </p:sp>
      <p:graphicFrame>
        <p:nvGraphicFramePr>
          <p:cNvPr id="9" name="Platshållare för innehåll 8"/>
          <p:cNvGraphicFramePr/>
          <p:nvPr/>
        </p:nvGraphicFramePr>
        <p:xfrm>
          <a:off x="369663" y="2576945"/>
          <a:ext cx="5557565" cy="2901896"/>
        </p:xfrm>
        <a:graphic>
          <a:graphicData uri="http://schemas.openxmlformats.org/drawingml/2006/table">
            <a:tbl>
              <a:tblPr/>
              <a:tblGrid>
                <a:gridCol w="1111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1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1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15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15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7189">
                <a:tc grid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Survey response by municipality type</a:t>
                      </a:r>
                    </a:p>
                  </a:txBody>
                  <a:tcPr marL="23467" marR="23467" marT="18774" marB="187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188">
                <a:tc grid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Distribution and response rates across Swedish municipality categories</a:t>
                      </a:r>
                    </a:p>
                  </a:txBody>
                  <a:tcPr marL="23467" marR="23467" marT="14080" marB="234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5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/>
                    </a:p>
                  </a:txBody>
                  <a:tcPr marL="23467" marR="23467" marT="23467" marB="28161" anchor="b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Total municipalities</a:t>
                      </a:r>
                    </a:p>
                  </a:txBody>
                  <a:tcPr marL="23467" marR="23467" marT="23467" marB="28161" anchor="b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Responded (n)</a:t>
                      </a:r>
                    </a:p>
                  </a:txBody>
                  <a:tcPr marL="23467" marR="23467" marT="23467" marB="28161" anchor="b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Did not respond (n)</a:t>
                      </a:r>
                    </a:p>
                  </a:txBody>
                  <a:tcPr marL="23467" marR="23467" marT="23467" marB="28161" anchor="b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Response rate (%)</a:t>
                      </a:r>
                    </a:p>
                  </a:txBody>
                  <a:tcPr marL="23467" marR="23467" marT="23467" marB="28161" anchor="b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9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333333"/>
                          </a:solidFill>
                        </a:rPr>
                        <a:t>Mindre städer/tätorter och landsbygdskommuner (</a:t>
                      </a:r>
                      <a:r>
                        <a:rPr sz="900" b="1">
                          <a:solidFill>
                            <a:srgbClr val="333333"/>
                          </a:solidFill>
                        </a:rPr>
                        <a:t>C</a:t>
                      </a:r>
                      <a:r>
                        <a:rPr sz="900">
                          <a:solidFill>
                            <a:srgbClr val="333333"/>
                          </a:solidFill>
                        </a:rPr>
                        <a:t>)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 w="19050" cmpd="sng">
                      <a:solidFill>
                        <a:srgbClr val="D3D3D3"/>
                      </a:solidFill>
                      <a:prstDash val="solid"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134</a:t>
                      </a:r>
                    </a:p>
                  </a:txBody>
                  <a:tcPr marL="23467" marR="23467" marT="37548" marB="37548" anchor="ctr">
                    <a:lnL w="19050" cmpd="sng">
                      <a:solidFill>
                        <a:srgbClr val="D3D3D3"/>
                      </a:solidFill>
                      <a:prstDash val="solid"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62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72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46.3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0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333333"/>
                          </a:solidFill>
                        </a:rPr>
                        <a:t>Storstäder och storstadsnära kommuner (</a:t>
                      </a:r>
                      <a:r>
                        <a:rPr sz="900" b="1">
                          <a:solidFill>
                            <a:srgbClr val="333333"/>
                          </a:solidFill>
                        </a:rPr>
                        <a:t>A</a:t>
                      </a:r>
                      <a:r>
                        <a:rPr sz="900">
                          <a:solidFill>
                            <a:srgbClr val="333333"/>
                          </a:solidFill>
                        </a:rPr>
                        <a:t>)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 w="19050" cmpd="sng">
                      <a:solidFill>
                        <a:srgbClr val="D3D3D3"/>
                      </a:solidFill>
                      <a:prstDash val="solid"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46</a:t>
                      </a:r>
                    </a:p>
                  </a:txBody>
                  <a:tcPr marL="23467" marR="23467" marT="37548" marB="37548" anchor="ctr">
                    <a:lnL w="19050" cmpd="sng">
                      <a:solidFill>
                        <a:srgbClr val="D3D3D3"/>
                      </a:solidFill>
                      <a:prstDash val="solid"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24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22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52.2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70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333333"/>
                          </a:solidFill>
                        </a:rPr>
                        <a:t>Större städer och kommuner nära större stad (</a:t>
                      </a:r>
                      <a:r>
                        <a:rPr sz="900" b="1">
                          <a:solidFill>
                            <a:srgbClr val="333333"/>
                          </a:solidFill>
                        </a:rPr>
                        <a:t>B</a:t>
                      </a:r>
                      <a:r>
                        <a:rPr sz="900">
                          <a:solidFill>
                            <a:srgbClr val="333333"/>
                          </a:solidFill>
                        </a:rPr>
                        <a:t>)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 w="19050" cmpd="sng">
                      <a:solidFill>
                        <a:srgbClr val="D3D3D3"/>
                      </a:solidFill>
                      <a:prstDash val="solid"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110</a:t>
                      </a:r>
                    </a:p>
                  </a:txBody>
                  <a:tcPr marL="23467" marR="23467" marT="37548" marB="37548" anchor="ctr">
                    <a:lnL w="19050" cmpd="sng">
                      <a:solidFill>
                        <a:srgbClr val="D3D3D3"/>
                      </a:solidFill>
                      <a:prstDash val="solid"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44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66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40.0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7189">
                <a:tc gridSpan="5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00" b="1" i="1" u="none"/>
                        <a:t>Chi-square test: χ² = 2.15, df = 2, p = 0.341</a:t>
                      </a:r>
                    </a:p>
                  </a:txBody>
                  <a:tcPr marL="23467" marR="23467" marT="18774" marB="187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ktangel 3">
            <a:extLst>
              <a:ext uri="{FF2B5EF4-FFF2-40B4-BE49-F238E27FC236}">
                <a16:creationId xmlns:a16="http://schemas.microsoft.com/office/drawing/2014/main" id="{75642E20-D716-4F6E-BCDD-FF77A5853103}"/>
              </a:ext>
            </a:extLst>
          </p:cNvPr>
          <p:cNvSpPr>
            <a:spLocks noGrp="1"/>
          </p:cNvSpPr>
          <p:nvPr/>
        </p:nvSpPr>
        <p:spPr>
          <a:xfrm>
            <a:off x="342900" y="1714500"/>
            <a:ext cx="11334750" cy="4000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6417AEBF-8BBD-4E76-940E-85A6B2050128}"/>
              </a:ext>
            </a:extLst>
          </p:cNvPr>
          <p:cNvSpPr>
            <a:spLocks noGrp="1"/>
          </p:cNvSpPr>
          <p:nvPr/>
        </p:nvSpPr>
        <p:spPr>
          <a:xfrm>
            <a:off x="838200" y="1952625"/>
            <a:ext cx="4333875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08000"/>
              </a:lnSpc>
              <a:buNone/>
              <a:defRPr sz="165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650" dirty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Source: ACLED event data</a:t>
            </a:r>
          </a:p>
          <a:p>
            <a:pPr>
              <a:lnSpc>
                <a:spcPct val="108000"/>
              </a:lnSpc>
              <a:buNone/>
              <a:defRPr sz="165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650" dirty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Period: January 2000 to December 2010</a:t>
            </a:r>
          </a:p>
          <a:p>
            <a:pPr>
              <a:lnSpc>
                <a:spcPct val="108000"/>
              </a:lnSpc>
              <a:buNone/>
              <a:defRPr sz="165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650" dirty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Spatial scope: African countries in the file</a:t>
            </a:r>
          </a:p>
          <a:p>
            <a:pPr>
              <a:lnSpc>
                <a:spcPct val="108000"/>
              </a:lnSpc>
              <a:buNone/>
              <a:defRPr sz="165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650" dirty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Events: 41,299 reported events</a:t>
            </a:r>
          </a:p>
          <a:p>
            <a:pPr>
              <a:lnSpc>
                <a:spcPct val="108000"/>
              </a:lnSpc>
              <a:buNone/>
              <a:defRPr sz="165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650" dirty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Countries: 48</a:t>
            </a:r>
          </a:p>
          <a:p>
            <a:pPr>
              <a:lnSpc>
                <a:spcPct val="108000"/>
              </a:lnSpc>
              <a:buNone/>
              <a:defRPr sz="165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650" dirty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Core fields: date, coordinates, event type, actors, fatalities</a:t>
            </a:r>
          </a:p>
          <a:p>
            <a:pPr>
              <a:lnSpc>
                <a:spcPct val="108000"/>
              </a:lnSpc>
              <a:buNone/>
              <a:defRPr sz="165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650" dirty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Use: input data for grid-cell monthly prediction</a:t>
            </a:r>
          </a:p>
        </p:txBody>
      </p:sp>
      <p:pic>
        <p:nvPicPr>
          <p:cNvPr id="12" name="Bildobjekt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26929" y="2041451"/>
            <a:ext cx="6821506" cy="2661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785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5D147-04C6-957D-0CA2-A89942983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>
            <a:normAutofit/>
          </a:bodyPr>
          <a:lstStyle/>
          <a:p>
            <a:r>
              <a:t>What one ACLED row tells 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959DB-6A4D-A064-C239-7AB49C538F1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25626"/>
            <a:ext cx="10515600" cy="425433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sv-SE" dirty="0"/>
              <a:t>- </a:t>
            </a:r>
            <a:r>
              <a:rPr dirty="0"/>
              <a:t>Each row is a reported political violence or disorder event.</a:t>
            </a:r>
          </a:p>
          <a:p>
            <a:pPr>
              <a:buNone/>
            </a:pPr>
            <a:r>
              <a:rPr lang="sv-SE" dirty="0"/>
              <a:t>- </a:t>
            </a:r>
            <a:r>
              <a:rPr dirty="0"/>
              <a:t>The row includes a date, latitude and longitude, country and administrative location, event and sub-event type, involved actors, fatalities, and source notes.</a:t>
            </a:r>
          </a:p>
          <a:p>
            <a:pPr>
              <a:buNone/>
            </a:pPr>
            <a:r>
              <a:rPr lang="sv-SE" dirty="0"/>
              <a:t>- </a:t>
            </a:r>
            <a:r>
              <a:rPr dirty="0"/>
              <a:t>The raw row is not yet the unit of prediction. It is an observation that can be aggregated into a consistent space-time panel.</a:t>
            </a:r>
          </a:p>
          <a:p>
            <a:pPr>
              <a:buNone/>
            </a:pPr>
            <a:r>
              <a:rPr lang="sv-SE" dirty="0"/>
              <a:t>- </a:t>
            </a:r>
            <a:r>
              <a:rPr dirty="0"/>
              <a:t>This matters because the model needs comparable units: the same places, observed repeatedly through time, including months with no reported conflict.</a:t>
            </a:r>
          </a:p>
        </p:txBody>
      </p:sp>
    </p:spTree>
    <p:extLst>
      <p:ext uri="{BB962C8B-B14F-4D97-AF65-F5344CB8AC3E}">
        <p14:creationId xmlns:p14="http://schemas.microsoft.com/office/powerpoint/2010/main" val="2839047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8FFF0-AEDC-AE1D-9146-B76F728DF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3"/>
            <a:ext cx="10515600" cy="1325563"/>
          </a:xfrm>
        </p:spPr>
        <p:txBody>
          <a:bodyPr>
            <a:normAutofit/>
          </a:bodyPr>
          <a:lstStyle/>
          <a:p>
            <a:r>
              <a:t>Research question and hypotheses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F7474-CC80-4907-37B5-89DEA66EF46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25626"/>
            <a:ext cx="10515600" cy="4254337"/>
          </a:xfrm>
        </p:spPr>
        <p:txBody>
          <a:bodyPr>
            <a:normAutofit/>
          </a:bodyPr>
          <a:lstStyle/>
          <a:p>
            <a:pPr>
              <a:buNone/>
            </a:pPr>
            <a:r>
              <a:t>Research question: do conflict clusters spread over time?</a:t>
            </a:r>
          </a:p>
          <a:p>
            <a:pPr>
              <a:buNone/>
            </a:pPr>
            <a:r>
              <a:rPr i="1"/>
              <a:t>H1</a:t>
            </a:r>
            <a:r>
              <a:t> Local persistence: a cell with recent conflict is more likely to experience conflict again in the following month.</a:t>
            </a:r>
          </a:p>
          <a:p>
            <a:pPr>
              <a:buNone/>
            </a:pPr>
            <a:r>
              <a:rPr i="1"/>
              <a:t>H2</a:t>
            </a:r>
            <a:r>
              <a:t> Spatial diffusion: conflict in nearby cells raises risk in the focal cell, even after accounting for the focal cell’s own history.</a:t>
            </a:r>
          </a:p>
          <a:p>
            <a:pPr>
              <a:buNone/>
            </a:pPr>
            <a:r>
              <a:rPr i="1"/>
              <a:t>H3</a:t>
            </a:r>
            <a:r>
              <a:t> Scale robustness: the same broad pattern should be visible when the grid is made smaller (50 x 50km) or larger (200 x 200km).</a:t>
            </a:r>
          </a:p>
        </p:txBody>
      </p:sp>
    </p:spTree>
    <p:extLst>
      <p:ext uri="{BB962C8B-B14F-4D97-AF65-F5344CB8AC3E}">
        <p14:creationId xmlns:p14="http://schemas.microsoft.com/office/powerpoint/2010/main" val="278138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FF6BB-9D74-D34E-BF4F-11098EFFB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3"/>
            <a:ext cx="10515600" cy="1325563"/>
          </a:xfrm>
        </p:spPr>
        <p:txBody>
          <a:bodyPr>
            <a:normAutofit/>
          </a:bodyPr>
          <a:lstStyle/>
          <a:p>
            <a:r>
              <a:rPr lang="sv-SE" dirty="0"/>
              <a:t>Pipeline: </a:t>
            </a:r>
            <a:r>
              <a:rPr dirty="0"/>
              <a:t>From reported events to a prediction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5B91B-7C92-B530-3D8A-1EE9D5B4B5E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25626"/>
            <a:ext cx="10515600" cy="4254337"/>
          </a:xfrm>
        </p:spPr>
        <p:txBody>
          <a:bodyPr>
            <a:normAutofit/>
          </a:bodyPr>
          <a:lstStyle/>
          <a:p>
            <a:pPr>
              <a:buNone/>
            </a:pPr>
            <a:r>
              <a:t>1. Start with point events: latitude, longitude, date, and event attributes.</a:t>
            </a:r>
          </a:p>
          <a:p>
            <a:pPr>
              <a:buNone/>
            </a:pPr>
            <a:r>
              <a:t>2. Assign each event to an approximate 100 × 100 km grid cell.</a:t>
            </a:r>
          </a:p>
          <a:p>
            <a:pPr>
              <a:buNone/>
            </a:pPr>
            <a:r>
              <a:t>3. Count events and fatalities by cell and month.</a:t>
            </a:r>
          </a:p>
          <a:p>
            <a:pPr>
              <a:buNone/>
            </a:pPr>
            <a:r>
              <a:t>4. Add explicit rows for cell-months with zero reported events.</a:t>
            </a:r>
          </a:p>
          <a:p>
            <a:pPr>
              <a:buNone/>
            </a:pPr>
            <a:r>
              <a:t>5. Shift the outcome forward: use earlier information to predict conflict next month.</a:t>
            </a:r>
          </a:p>
        </p:txBody>
      </p:sp>
    </p:spTree>
    <p:extLst>
      <p:ext uri="{BB962C8B-B14F-4D97-AF65-F5344CB8AC3E}">
        <p14:creationId xmlns:p14="http://schemas.microsoft.com/office/powerpoint/2010/main" val="3586549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A29E571-6A5E-CD36-11C7-A536A8B10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 anchor="ctr">
            <a:normAutofit/>
          </a:bodyPr>
          <a:lstStyle/>
          <a:p>
            <a:r>
              <a:rPr sz="4000"/>
              <a:t>The 100 km grid-cell monthly 2000-2010 panel</a:t>
            </a:r>
          </a:p>
        </p:txBody>
      </p:sp>
      <p:graphicFrame>
        <p:nvGraphicFramePr>
          <p:cNvPr id="9" name="Platshållare för innehåll 8"/>
          <p:cNvGraphicFramePr/>
          <p:nvPr/>
        </p:nvGraphicFramePr>
        <p:xfrm>
          <a:off x="369663" y="2576945"/>
          <a:ext cx="5557565" cy="2901896"/>
        </p:xfrm>
        <a:graphic>
          <a:graphicData uri="http://schemas.openxmlformats.org/drawingml/2006/table">
            <a:tbl>
              <a:tblPr/>
              <a:tblGrid>
                <a:gridCol w="1111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1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1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15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15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7189">
                <a:tc grid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Survey response by municipality type</a:t>
                      </a:r>
                    </a:p>
                  </a:txBody>
                  <a:tcPr marL="23467" marR="23467" marT="18774" marB="187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188">
                <a:tc grid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Distribution and response rates across Swedish municipality categories</a:t>
                      </a:r>
                    </a:p>
                  </a:txBody>
                  <a:tcPr marL="23467" marR="23467" marT="14080" marB="234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5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/>
                    </a:p>
                  </a:txBody>
                  <a:tcPr marL="23467" marR="23467" marT="23467" marB="28161" anchor="b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Total municipalities</a:t>
                      </a:r>
                    </a:p>
                  </a:txBody>
                  <a:tcPr marL="23467" marR="23467" marT="23467" marB="28161" anchor="b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Responded (n)</a:t>
                      </a:r>
                    </a:p>
                  </a:txBody>
                  <a:tcPr marL="23467" marR="23467" marT="23467" marB="28161" anchor="b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Did not respond (n)</a:t>
                      </a:r>
                    </a:p>
                  </a:txBody>
                  <a:tcPr marL="23467" marR="23467" marT="23467" marB="28161" anchor="b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Response rate (%)</a:t>
                      </a:r>
                    </a:p>
                  </a:txBody>
                  <a:tcPr marL="23467" marR="23467" marT="23467" marB="28161" anchor="b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9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333333"/>
                          </a:solidFill>
                        </a:rPr>
                        <a:t>Mindre städer/tätorter och landsbygdskommuner (</a:t>
                      </a:r>
                      <a:r>
                        <a:rPr sz="900" b="1">
                          <a:solidFill>
                            <a:srgbClr val="333333"/>
                          </a:solidFill>
                        </a:rPr>
                        <a:t>C</a:t>
                      </a:r>
                      <a:r>
                        <a:rPr sz="900">
                          <a:solidFill>
                            <a:srgbClr val="333333"/>
                          </a:solidFill>
                        </a:rPr>
                        <a:t>)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 w="19050" cmpd="sng">
                      <a:solidFill>
                        <a:srgbClr val="D3D3D3"/>
                      </a:solidFill>
                      <a:prstDash val="solid"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134</a:t>
                      </a:r>
                    </a:p>
                  </a:txBody>
                  <a:tcPr marL="23467" marR="23467" marT="37548" marB="37548" anchor="ctr">
                    <a:lnL w="19050" cmpd="sng">
                      <a:solidFill>
                        <a:srgbClr val="D3D3D3"/>
                      </a:solidFill>
                      <a:prstDash val="solid"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62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72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46.3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0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333333"/>
                          </a:solidFill>
                        </a:rPr>
                        <a:t>Storstäder och storstadsnära kommuner (</a:t>
                      </a:r>
                      <a:r>
                        <a:rPr sz="900" b="1">
                          <a:solidFill>
                            <a:srgbClr val="333333"/>
                          </a:solidFill>
                        </a:rPr>
                        <a:t>A</a:t>
                      </a:r>
                      <a:r>
                        <a:rPr sz="900">
                          <a:solidFill>
                            <a:srgbClr val="333333"/>
                          </a:solidFill>
                        </a:rPr>
                        <a:t>)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 w="19050" cmpd="sng">
                      <a:solidFill>
                        <a:srgbClr val="D3D3D3"/>
                      </a:solidFill>
                      <a:prstDash val="solid"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46</a:t>
                      </a:r>
                    </a:p>
                  </a:txBody>
                  <a:tcPr marL="23467" marR="23467" marT="37548" marB="37548" anchor="ctr">
                    <a:lnL w="19050" cmpd="sng">
                      <a:solidFill>
                        <a:srgbClr val="D3D3D3"/>
                      </a:solidFill>
                      <a:prstDash val="solid"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24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22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52.2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70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333333"/>
                          </a:solidFill>
                        </a:rPr>
                        <a:t>Större städer och kommuner nära större stad (</a:t>
                      </a:r>
                      <a:r>
                        <a:rPr sz="900" b="1">
                          <a:solidFill>
                            <a:srgbClr val="333333"/>
                          </a:solidFill>
                        </a:rPr>
                        <a:t>B</a:t>
                      </a:r>
                      <a:r>
                        <a:rPr sz="900">
                          <a:solidFill>
                            <a:srgbClr val="333333"/>
                          </a:solidFill>
                        </a:rPr>
                        <a:t>)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 w="19050" cmpd="sng">
                      <a:solidFill>
                        <a:srgbClr val="D3D3D3"/>
                      </a:solidFill>
                      <a:prstDash val="solid"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110</a:t>
                      </a:r>
                    </a:p>
                  </a:txBody>
                  <a:tcPr marL="23467" marR="23467" marT="37548" marB="37548" anchor="ctr">
                    <a:lnL w="19050" cmpd="sng">
                      <a:solidFill>
                        <a:srgbClr val="D3D3D3"/>
                      </a:solidFill>
                      <a:prstDash val="solid"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44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66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40.0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7189">
                <a:tc gridSpan="5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00" b="1" i="1" u="none"/>
                        <a:t>Chi-square test: χ² = 2.15, df = 2, p = 0.341</a:t>
                      </a:r>
                    </a:p>
                  </a:txBody>
                  <a:tcPr marL="23467" marR="23467" marT="18774" marB="187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ktangel 3">
            <a:extLst>
              <a:ext uri="{FF2B5EF4-FFF2-40B4-BE49-F238E27FC236}">
                <a16:creationId xmlns:a16="http://schemas.microsoft.com/office/drawing/2014/main" id="{9523E307-3503-4736-95A2-263BB9CDB289}"/>
              </a:ext>
            </a:extLst>
          </p:cNvPr>
          <p:cNvSpPr>
            <a:spLocks noGrp="1"/>
          </p:cNvSpPr>
          <p:nvPr/>
        </p:nvSpPr>
        <p:spPr>
          <a:xfrm>
            <a:off x="342900" y="1714500"/>
            <a:ext cx="11334750" cy="4000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973A021C-0DCA-4126-B640-062F0D40E0E6}"/>
              </a:ext>
            </a:extLst>
          </p:cNvPr>
          <p:cNvSpPr>
            <a:spLocks noGrp="1"/>
          </p:cNvSpPr>
          <p:nvPr/>
        </p:nvSpPr>
        <p:spPr>
          <a:xfrm>
            <a:off x="838200" y="1952625"/>
            <a:ext cx="4333875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08000"/>
              </a:lnSpc>
              <a:buNone/>
              <a:defRPr sz="165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65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Grid: 100 × 100 km cells</a:t>
            </a:r>
          </a:p>
          <a:p>
            <a:pPr>
              <a:lnSpc>
                <a:spcPct val="108000"/>
              </a:lnSpc>
              <a:buNone/>
              <a:defRPr sz="165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65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Rows: 187,592 cell-months</a:t>
            </a:r>
          </a:p>
          <a:p>
            <a:pPr>
              <a:lnSpc>
                <a:spcPct val="108000"/>
              </a:lnSpc>
              <a:buNone/>
              <a:defRPr sz="165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65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Cells: 1,432 geographic cells</a:t>
            </a:r>
          </a:p>
          <a:p>
            <a:pPr>
              <a:lnSpc>
                <a:spcPct val="108000"/>
              </a:lnSpc>
              <a:buNone/>
              <a:defRPr sz="165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65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Months: 131 modeled months after target shift</a:t>
            </a:r>
          </a:p>
          <a:p>
            <a:pPr>
              <a:lnSpc>
                <a:spcPct val="108000"/>
              </a:lnSpc>
              <a:buNone/>
              <a:defRPr sz="165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65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Outcome: any conflict in the next month</a:t>
            </a:r>
          </a:p>
          <a:p>
            <a:pPr>
              <a:lnSpc>
                <a:spcPct val="108000"/>
              </a:lnSpc>
              <a:buNone/>
              <a:defRPr sz="165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65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Outcome frequency: about 8% positive cell-months</a:t>
            </a:r>
          </a:p>
          <a:p>
            <a:pPr>
              <a:lnSpc>
                <a:spcPct val="108000"/>
              </a:lnSpc>
              <a:buNone/>
              <a:defRPr sz="165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65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Purpose: a structured map-time table for prediction</a:t>
            </a:r>
          </a:p>
        </p:txBody>
      </p:sp>
      <p:pic>
        <p:nvPicPr>
          <p:cNvPr id="12" name="Bildobjekt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04644" y="2211573"/>
            <a:ext cx="7041543" cy="226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785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4A432-BED6-776F-DE00-C2284138A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>
            <a:normAutofit/>
          </a:bodyPr>
          <a:lstStyle/>
          <a:p>
            <a:r>
              <a:t>What the model is allowed to know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5E74F-31D2-57EB-C7BB-E7BE8638175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25626"/>
            <a:ext cx="10515600" cy="4254337"/>
          </a:xfrm>
        </p:spPr>
        <p:txBody>
          <a:bodyPr>
            <a:normAutofit/>
          </a:bodyPr>
          <a:lstStyle/>
          <a:p>
            <a:pPr>
              <a:buNone/>
            </a:pPr>
            <a:r>
              <a:t>Only information available before the prediction month is used.</a:t>
            </a:r>
          </a:p>
          <a:p>
            <a:pPr>
              <a:buNone/>
            </a:pPr>
            <a:r>
              <a:t>Local history: whether the same cell had conflict in the last 1, 3, 6, or 12 months.</a:t>
            </a:r>
          </a:p>
          <a:p>
            <a:pPr>
              <a:buNone/>
            </a:pPr>
            <a:r>
              <a:t>Intensity history: recent event counts and fatality counts, summarized over rolling windows.</a:t>
            </a:r>
          </a:p>
          <a:p>
            <a:pPr>
              <a:buNone/>
            </a:pPr>
            <a:r>
              <a:t>Neighbor history: recent conflict in nearby grid cells, used to test spatial diffusion.</a:t>
            </a:r>
          </a:p>
          <a:p>
            <a:pPr>
              <a:buNone/>
            </a:pPr>
            <a:r>
              <a:t>Context controls: month and country patterns, plus event-type histories where useful.</a:t>
            </a:r>
          </a:p>
        </p:txBody>
      </p:sp>
    </p:spTree>
    <p:extLst>
      <p:ext uri="{BB962C8B-B14F-4D97-AF65-F5344CB8AC3E}">
        <p14:creationId xmlns:p14="http://schemas.microsoft.com/office/powerpoint/2010/main" val="662079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6E0DD-7CB0-E33E-26D2-C102E3099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>
            <a:normAutofit/>
          </a:bodyPr>
          <a:lstStyle/>
          <a:p>
            <a:r>
              <a:t>Modeling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EE790-86D9-2F00-01E8-732F01CDD82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25626"/>
            <a:ext cx="10515600" cy="4254337"/>
          </a:xfrm>
        </p:spPr>
        <p:txBody>
          <a:bodyPr>
            <a:normAutofit/>
          </a:bodyPr>
          <a:lstStyle/>
          <a:p>
            <a:pPr>
              <a:buNone/>
            </a:pPr>
            <a:r>
              <a:t>The models compare increasingly informative explanations of next-month conflict risk.</a:t>
            </a:r>
          </a:p>
          <a:p>
            <a:pPr>
              <a:buNone/>
            </a:pPr>
            <a:r>
              <a:t>Baseline: broad place and time patterns.</a:t>
            </a:r>
          </a:p>
          <a:p>
            <a:pPr>
              <a:buNone/>
            </a:pPr>
            <a:r>
              <a:t>Local-history model: adds what happened in the same cell recently.</a:t>
            </a:r>
          </a:p>
          <a:p>
            <a:pPr>
              <a:buNone/>
            </a:pPr>
            <a:r>
              <a:t>Neighbor model: adds what happened around the cell recently.</a:t>
            </a:r>
          </a:p>
          <a:p>
            <a:pPr>
              <a:buNone/>
            </a:pPr>
            <a:r>
              <a:t>Extended model: adds richer event-type and intensity information.</a:t>
            </a:r>
          </a:p>
          <a:p>
            <a:pPr>
              <a:buNone/>
            </a:pPr>
            <a:r>
              <a:t>Logistic regression keeps the design interpretable; random forests test whether flexible patterns add predictive value.</a:t>
            </a:r>
          </a:p>
        </p:txBody>
      </p:sp>
    </p:spTree>
    <p:extLst>
      <p:ext uri="{BB962C8B-B14F-4D97-AF65-F5344CB8AC3E}">
        <p14:creationId xmlns:p14="http://schemas.microsoft.com/office/powerpoint/2010/main" val="3072007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61C39-510C-C3A9-21B9-8398A332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>
            <a:normAutofit/>
          </a:bodyPr>
          <a:lstStyle/>
          <a:p>
            <a:r>
              <a:t>Planned validation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88924-5174-B15F-53A6-01BF93A09FB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25626"/>
            <a:ext cx="10515600" cy="4254337"/>
          </a:xfrm>
        </p:spPr>
        <p:txBody>
          <a:bodyPr>
            <a:normAutofit/>
          </a:bodyPr>
          <a:lstStyle/>
          <a:p>
            <a:pPr>
              <a:buNone/>
            </a:pPr>
            <a:r>
              <a:t>Time should be split chronologically, because the real task is forecasting future months.</a:t>
            </a:r>
          </a:p>
          <a:p>
            <a:pPr>
              <a:buNone/>
            </a:pPr>
            <a:r>
              <a:t>First phase: build and explain the model using the 2000-2010 ACLED data.</a:t>
            </a:r>
          </a:p>
          <a:p>
            <a:pPr>
              <a:buNone/>
            </a:pPr>
            <a:r>
              <a:t>Second phase: add 2011-2020 as a later out-of-sample test period.</a:t>
            </a:r>
          </a:p>
          <a:p>
            <a:pPr>
              <a:buNone/>
            </a:pPr>
            <a:r>
              <a:t>The main grid is 100 km × 100 km, with 50 km and 200 km robustness checks.</a:t>
            </a:r>
          </a:p>
          <a:p>
            <a:pPr>
              <a:buNone/>
            </a:pPr>
            <a:r>
              <a:t>Evaluation should ask whether high-risk cells are useful and calibrated, not only whether a single threshold looks good.</a:t>
            </a:r>
          </a:p>
        </p:txBody>
      </p:sp>
    </p:spTree>
    <p:extLst>
      <p:ext uri="{BB962C8B-B14F-4D97-AF65-F5344CB8AC3E}">
        <p14:creationId xmlns:p14="http://schemas.microsoft.com/office/powerpoint/2010/main" val="635155315"/>
      </p:ext>
    </p:extLst>
  </p:cSld>
  <p:clrMapOvr>
    <a:masterClrMapping/>
  </p:clrMapOvr>
</p:sld>
</file>

<file path=ppt/theme/theme1.xml><?xml version="1.0" encoding="utf-8"?>
<a:theme xmlns:a="http://schemas.openxmlformats.org/drawingml/2006/main" name="LiU - WHITE">
  <a:themeElements>
    <a:clrScheme name="LiU-BLÅ">
      <a:dk1>
        <a:srgbClr val="000000"/>
      </a:dk1>
      <a:lt1>
        <a:srgbClr val="FFFFFF"/>
      </a:lt1>
      <a:dk2>
        <a:srgbClr val="00B9E7"/>
      </a:dk2>
      <a:lt2>
        <a:srgbClr val="FFFFFF"/>
      </a:lt2>
      <a:accent1>
        <a:srgbClr val="17C7D2"/>
      </a:accent1>
      <a:accent2>
        <a:srgbClr val="00CFB5"/>
      </a:accent2>
      <a:accent3>
        <a:srgbClr val="FF6442"/>
      </a:accent3>
      <a:accent4>
        <a:srgbClr val="8981D3"/>
      </a:accent4>
      <a:accent5>
        <a:srgbClr val="FDEF5D"/>
      </a:accent5>
      <a:accent6>
        <a:srgbClr val="6A7E91"/>
      </a:accent6>
      <a:hlink>
        <a:srgbClr val="0000FF"/>
      </a:hlink>
      <a:folHlink>
        <a:srgbClr val="800080"/>
      </a:folHlink>
    </a:clrScheme>
    <a:fontScheme name="LiU">
      <a:majorFont>
        <a:latin typeface="KorolevLiU Medium"/>
        <a:ea typeface=""/>
        <a:cs typeface=""/>
      </a:majorFont>
      <a:minorFont>
        <a:latin typeface="Georgia"/>
        <a:ea typeface=""/>
        <a:cs typeface=""/>
      </a:minorFont>
    </a:fontScheme>
    <a:fmtScheme name="LiU-BLÅ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iU - BLACK">
  <a:themeElements>
    <a:clrScheme name="LiU-BLÅ">
      <a:dk1>
        <a:srgbClr val="000000"/>
      </a:dk1>
      <a:lt1>
        <a:srgbClr val="FFFFFF"/>
      </a:lt1>
      <a:dk2>
        <a:srgbClr val="00B9E7"/>
      </a:dk2>
      <a:lt2>
        <a:srgbClr val="FFFFFF"/>
      </a:lt2>
      <a:accent1>
        <a:srgbClr val="17C7D2"/>
      </a:accent1>
      <a:accent2>
        <a:srgbClr val="00CFB5"/>
      </a:accent2>
      <a:accent3>
        <a:srgbClr val="FF6442"/>
      </a:accent3>
      <a:accent4>
        <a:srgbClr val="8981D3"/>
      </a:accent4>
      <a:accent5>
        <a:srgbClr val="FDEF5D"/>
      </a:accent5>
      <a:accent6>
        <a:srgbClr val="6A7E91"/>
      </a:accent6>
      <a:hlink>
        <a:srgbClr val="0000FF"/>
      </a:hlink>
      <a:folHlink>
        <a:srgbClr val="800080"/>
      </a:folHlink>
    </a:clrScheme>
    <a:fontScheme name="LiU">
      <a:majorFont>
        <a:latin typeface="KorolevLiU Medium"/>
        <a:ea typeface=""/>
        <a:cs typeface=""/>
      </a:majorFont>
      <a:minorFont>
        <a:latin typeface="Georgia"/>
        <a:ea typeface=""/>
        <a:cs typeface=""/>
      </a:minorFont>
    </a:fontScheme>
    <a:fmtScheme name="LiU-BLÅ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iU - TURKOS 50%">
  <a:themeElements>
    <a:clrScheme name="LiU-BLÅ">
      <a:dk1>
        <a:srgbClr val="000000"/>
      </a:dk1>
      <a:lt1>
        <a:srgbClr val="FFFFFF"/>
      </a:lt1>
      <a:dk2>
        <a:srgbClr val="00B9E7"/>
      </a:dk2>
      <a:lt2>
        <a:srgbClr val="FFFFFF"/>
      </a:lt2>
      <a:accent1>
        <a:srgbClr val="17C7D2"/>
      </a:accent1>
      <a:accent2>
        <a:srgbClr val="00CFB5"/>
      </a:accent2>
      <a:accent3>
        <a:srgbClr val="FF6442"/>
      </a:accent3>
      <a:accent4>
        <a:srgbClr val="8981D3"/>
      </a:accent4>
      <a:accent5>
        <a:srgbClr val="FDEF5D"/>
      </a:accent5>
      <a:accent6>
        <a:srgbClr val="6A7E91"/>
      </a:accent6>
      <a:hlink>
        <a:srgbClr val="0000FF"/>
      </a:hlink>
      <a:folHlink>
        <a:srgbClr val="800080"/>
      </a:folHlink>
    </a:clrScheme>
    <a:fontScheme name="LiU">
      <a:majorFont>
        <a:latin typeface="KorolevLiU Medium"/>
        <a:ea typeface=""/>
        <a:cs typeface=""/>
      </a:majorFont>
      <a:minorFont>
        <a:latin typeface="Georgia"/>
        <a:ea typeface=""/>
        <a:cs typeface=""/>
      </a:minorFont>
    </a:fontScheme>
    <a:fmtScheme name="LiU-BLÅ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iU - BLÅ 50%">
  <a:themeElements>
    <a:clrScheme name="LiU-BLÅ">
      <a:dk1>
        <a:srgbClr val="000000"/>
      </a:dk1>
      <a:lt1>
        <a:srgbClr val="FFFFFF"/>
      </a:lt1>
      <a:dk2>
        <a:srgbClr val="00B9E7"/>
      </a:dk2>
      <a:lt2>
        <a:srgbClr val="FFFFFF"/>
      </a:lt2>
      <a:accent1>
        <a:srgbClr val="17C7D2"/>
      </a:accent1>
      <a:accent2>
        <a:srgbClr val="00CFB5"/>
      </a:accent2>
      <a:accent3>
        <a:srgbClr val="FF6442"/>
      </a:accent3>
      <a:accent4>
        <a:srgbClr val="8981D3"/>
      </a:accent4>
      <a:accent5>
        <a:srgbClr val="FDEF5D"/>
      </a:accent5>
      <a:accent6>
        <a:srgbClr val="6A7E91"/>
      </a:accent6>
      <a:hlink>
        <a:srgbClr val="0000FF"/>
      </a:hlink>
      <a:folHlink>
        <a:srgbClr val="800080"/>
      </a:folHlink>
    </a:clrScheme>
    <a:fontScheme name="LiU">
      <a:majorFont>
        <a:latin typeface="KorolevLiU Medium"/>
        <a:ea typeface=""/>
        <a:cs typeface=""/>
      </a:majorFont>
      <a:minorFont>
        <a:latin typeface="Georgia"/>
        <a:ea typeface=""/>
        <a:cs typeface=""/>
      </a:minorFont>
    </a:fontScheme>
    <a:fmtScheme name="LiU-BLÅ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LiU - GRÖN 50%">
  <a:themeElements>
    <a:clrScheme name="LiU-BLÅ">
      <a:dk1>
        <a:srgbClr val="000000"/>
      </a:dk1>
      <a:lt1>
        <a:srgbClr val="FFFFFF"/>
      </a:lt1>
      <a:dk2>
        <a:srgbClr val="00B9E7"/>
      </a:dk2>
      <a:lt2>
        <a:srgbClr val="FFFFFF"/>
      </a:lt2>
      <a:accent1>
        <a:srgbClr val="17C7D2"/>
      </a:accent1>
      <a:accent2>
        <a:srgbClr val="00CFB5"/>
      </a:accent2>
      <a:accent3>
        <a:srgbClr val="FF6442"/>
      </a:accent3>
      <a:accent4>
        <a:srgbClr val="8981D3"/>
      </a:accent4>
      <a:accent5>
        <a:srgbClr val="FDEF5D"/>
      </a:accent5>
      <a:accent6>
        <a:srgbClr val="6A7E91"/>
      </a:accent6>
      <a:hlink>
        <a:srgbClr val="0000FF"/>
      </a:hlink>
      <a:folHlink>
        <a:srgbClr val="800080"/>
      </a:folHlink>
    </a:clrScheme>
    <a:fontScheme name="LiU">
      <a:majorFont>
        <a:latin typeface="KorolevLiU Medium"/>
        <a:ea typeface=""/>
        <a:cs typeface=""/>
      </a:majorFont>
      <a:minorFont>
        <a:latin typeface="Georgia"/>
        <a:ea typeface=""/>
        <a:cs typeface=""/>
      </a:minorFont>
    </a:fontScheme>
    <a:fmtScheme name="LiU-BLÅ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LiU - ORANGE 30%">
  <a:themeElements>
    <a:clrScheme name="LiU-BLÅ">
      <a:dk1>
        <a:srgbClr val="000000"/>
      </a:dk1>
      <a:lt1>
        <a:srgbClr val="FFFFFF"/>
      </a:lt1>
      <a:dk2>
        <a:srgbClr val="00B9E7"/>
      </a:dk2>
      <a:lt2>
        <a:srgbClr val="FFFFFF"/>
      </a:lt2>
      <a:accent1>
        <a:srgbClr val="17C7D2"/>
      </a:accent1>
      <a:accent2>
        <a:srgbClr val="00CFB5"/>
      </a:accent2>
      <a:accent3>
        <a:srgbClr val="FF6442"/>
      </a:accent3>
      <a:accent4>
        <a:srgbClr val="8981D3"/>
      </a:accent4>
      <a:accent5>
        <a:srgbClr val="FDEF5D"/>
      </a:accent5>
      <a:accent6>
        <a:srgbClr val="6A7E91"/>
      </a:accent6>
      <a:hlink>
        <a:srgbClr val="0000FF"/>
      </a:hlink>
      <a:folHlink>
        <a:srgbClr val="800080"/>
      </a:folHlink>
    </a:clrScheme>
    <a:fontScheme name="LiU">
      <a:majorFont>
        <a:latin typeface="KorolevLiU Medium"/>
        <a:ea typeface=""/>
        <a:cs typeface=""/>
      </a:majorFont>
      <a:minorFont>
        <a:latin typeface="Georgia"/>
        <a:ea typeface=""/>
        <a:cs typeface=""/>
      </a:minorFont>
    </a:fontScheme>
    <a:fmtScheme name="LiU-BLÅ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LiU - LILA 30%">
  <a:themeElements>
    <a:clrScheme name="LiU-BLÅ">
      <a:dk1>
        <a:srgbClr val="000000"/>
      </a:dk1>
      <a:lt1>
        <a:srgbClr val="FFFFFF"/>
      </a:lt1>
      <a:dk2>
        <a:srgbClr val="00B9E7"/>
      </a:dk2>
      <a:lt2>
        <a:srgbClr val="FFFFFF"/>
      </a:lt2>
      <a:accent1>
        <a:srgbClr val="17C7D2"/>
      </a:accent1>
      <a:accent2>
        <a:srgbClr val="00CFB5"/>
      </a:accent2>
      <a:accent3>
        <a:srgbClr val="FF6442"/>
      </a:accent3>
      <a:accent4>
        <a:srgbClr val="8981D3"/>
      </a:accent4>
      <a:accent5>
        <a:srgbClr val="FDEF5D"/>
      </a:accent5>
      <a:accent6>
        <a:srgbClr val="6A7E91"/>
      </a:accent6>
      <a:hlink>
        <a:srgbClr val="0000FF"/>
      </a:hlink>
      <a:folHlink>
        <a:srgbClr val="800080"/>
      </a:folHlink>
    </a:clrScheme>
    <a:fontScheme name="LiU">
      <a:majorFont>
        <a:latin typeface="KorolevLiU Medium"/>
        <a:ea typeface=""/>
        <a:cs typeface=""/>
      </a:majorFont>
      <a:minorFont>
        <a:latin typeface="Georgia"/>
        <a:ea typeface=""/>
        <a:cs typeface=""/>
      </a:minorFont>
    </a:fontScheme>
    <a:fmtScheme name="LiU-BLÅ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LiU - GUL 50%">
  <a:themeElements>
    <a:clrScheme name="LiU-BLÅ">
      <a:dk1>
        <a:srgbClr val="000000"/>
      </a:dk1>
      <a:lt1>
        <a:srgbClr val="FFFFFF"/>
      </a:lt1>
      <a:dk2>
        <a:srgbClr val="00B9E7"/>
      </a:dk2>
      <a:lt2>
        <a:srgbClr val="FFFFFF"/>
      </a:lt2>
      <a:accent1>
        <a:srgbClr val="17C7D2"/>
      </a:accent1>
      <a:accent2>
        <a:srgbClr val="00CFB5"/>
      </a:accent2>
      <a:accent3>
        <a:srgbClr val="FF6442"/>
      </a:accent3>
      <a:accent4>
        <a:srgbClr val="8981D3"/>
      </a:accent4>
      <a:accent5>
        <a:srgbClr val="FDEF5D"/>
      </a:accent5>
      <a:accent6>
        <a:srgbClr val="6A7E91"/>
      </a:accent6>
      <a:hlink>
        <a:srgbClr val="0000FF"/>
      </a:hlink>
      <a:folHlink>
        <a:srgbClr val="800080"/>
      </a:folHlink>
    </a:clrScheme>
    <a:fontScheme name="LiU">
      <a:majorFont>
        <a:latin typeface="KorolevLiU Medium"/>
        <a:ea typeface=""/>
        <a:cs typeface=""/>
      </a:majorFont>
      <a:minorFont>
        <a:latin typeface="Georgia"/>
        <a:ea typeface=""/>
        <a:cs typeface=""/>
      </a:minorFont>
    </a:fontScheme>
    <a:fmtScheme name="LiU-BLÅ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LiU - WHITE">
  <a:themeElements>
    <a:clrScheme name="LiU-BLÅ">
      <a:dk1>
        <a:srgbClr val="000000"/>
      </a:dk1>
      <a:lt1>
        <a:srgbClr val="FFFFFF"/>
      </a:lt1>
      <a:dk2>
        <a:srgbClr val="00B9E7"/>
      </a:dk2>
      <a:lt2>
        <a:srgbClr val="FFFFFF"/>
      </a:lt2>
      <a:accent1>
        <a:srgbClr val="17C7D2"/>
      </a:accent1>
      <a:accent2>
        <a:srgbClr val="00CFB5"/>
      </a:accent2>
      <a:accent3>
        <a:srgbClr val="FF6442"/>
      </a:accent3>
      <a:accent4>
        <a:srgbClr val="8981D3"/>
      </a:accent4>
      <a:accent5>
        <a:srgbClr val="FDEF5D"/>
      </a:accent5>
      <a:accent6>
        <a:srgbClr val="6A7E91"/>
      </a:accent6>
      <a:hlink>
        <a:srgbClr val="0000FF"/>
      </a:hlink>
      <a:folHlink>
        <a:srgbClr val="800080"/>
      </a:folHlink>
    </a:clrScheme>
    <a:fontScheme name="LiU">
      <a:majorFont>
        <a:latin typeface="KorolevLiU Medium"/>
        <a:ea typeface=""/>
        <a:cs typeface=""/>
      </a:majorFont>
      <a:minorFont>
        <a:latin typeface="Georgia"/>
        <a:ea typeface=""/>
        <a:cs typeface=""/>
      </a:minorFont>
    </a:fontScheme>
    <a:fmtScheme name="LiU-BLÅ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932</Words>
  <Application>Microsoft Macintosh PowerPoint</Application>
  <DocSecurity>0</DocSecurity>
  <PresentationFormat>Bredbild</PresentationFormat>
  <Paragraphs>111</Paragraphs>
  <Slides>11</Slides>
  <Notes>11</Notes>
  <HiddenSlides>0</HiddenSlides>
  <MMClips>0</MMClips>
  <ScaleCrop>false</ScaleCrop>
  <HeadingPairs>
    <vt:vector size="6" baseType="variant">
      <vt:variant>
        <vt:lpstr>Använt teckensnitt</vt:lpstr>
      </vt:variant>
      <vt:variant>
        <vt:i4>2</vt:i4>
      </vt:variant>
      <vt:variant>
        <vt:lpstr>Tema</vt:lpstr>
      </vt:variant>
      <vt:variant>
        <vt:i4>8</vt:i4>
      </vt:variant>
      <vt:variant>
        <vt:lpstr>Bildrubriker</vt:lpstr>
      </vt:variant>
      <vt:variant>
        <vt:i4>11</vt:i4>
      </vt:variant>
    </vt:vector>
  </HeadingPairs>
  <TitlesOfParts>
    <vt:vector size="21" baseType="lpstr">
      <vt:lpstr>Georgia</vt:lpstr>
      <vt:lpstr>KorolevLiU Medium</vt:lpstr>
      <vt:lpstr>LiU - WHITE</vt:lpstr>
      <vt:lpstr>LiU - BLACK</vt:lpstr>
      <vt:lpstr>LiU - TURKOS 50%</vt:lpstr>
      <vt:lpstr>LiU - BLÅ 50%</vt:lpstr>
      <vt:lpstr>LiU - GRÖN 50%</vt:lpstr>
      <vt:lpstr>LiU - ORANGE 30%</vt:lpstr>
      <vt:lpstr>LiU - LILA 30%</vt:lpstr>
      <vt:lpstr>LiU - GUL 50%</vt:lpstr>
      <vt:lpstr>Predicting conflict clusters in Africa</vt:lpstr>
      <vt:lpstr>Today’s focus</vt:lpstr>
      <vt:lpstr>Core idea: conflict risk moves through space and time</vt:lpstr>
      <vt:lpstr>ACLED data planned to be used</vt:lpstr>
      <vt:lpstr>What one ACLED row tells us</vt:lpstr>
      <vt:lpstr>Research question and hypotheses</vt:lpstr>
      <vt:lpstr>Pipeline: From reported events to a prediction table</vt:lpstr>
      <vt:lpstr>The 100 km grid-cell monthly 2000-2010 panel</vt:lpstr>
      <vt:lpstr>What the model is allowed to know</vt:lpstr>
      <vt:lpstr>Modeling strategy</vt:lpstr>
      <vt:lpstr>Planned validation strategy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Mattias Antar</cp:lastModifiedBy>
  <cp:revision>2</cp:revision>
  <dcterms:created xsi:type="dcterms:W3CDTF">2026-06-22T14:59:11Z</dcterms:created>
  <dcterms:modified xsi:type="dcterms:W3CDTF">2026-06-22T15:11:41Z</dcterms:modified>
</cp:coreProperties>
</file>